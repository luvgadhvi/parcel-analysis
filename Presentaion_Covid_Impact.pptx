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handoutMasterIdLst>
    <p:handoutMasterId r:id="rId16"/>
  </p:handoutMasterIdLst>
  <p:sldIdLst>
    <p:sldId id="259" r:id="rId2"/>
    <p:sldId id="284" r:id="rId3"/>
    <p:sldId id="277" r:id="rId4"/>
    <p:sldId id="285" r:id="rId5"/>
    <p:sldId id="272" r:id="rId6"/>
    <p:sldId id="271" r:id="rId7"/>
    <p:sldId id="273" r:id="rId8"/>
    <p:sldId id="286" r:id="rId9"/>
    <p:sldId id="289" r:id="rId10"/>
    <p:sldId id="266" r:id="rId11"/>
    <p:sldId id="290" r:id="rId12"/>
    <p:sldId id="267" r:id="rId13"/>
    <p:sldId id="287" r:id="rId14"/>
  </p:sldIdLst>
  <p:sldSz cx="18288000" cy="10287000"/>
  <p:notesSz cx="6858000" cy="9144000"/>
  <p:embeddedFontLst>
    <p:embeddedFont>
      <p:font typeface="ADLaM Display" panose="02010000000000000000" pitchFamily="2" charset="0"/>
      <p:regular r:id="rId17"/>
    </p:embeddedFont>
    <p:embeddedFont>
      <p:font typeface="Montserrat" panose="00000500000000000000" pitchFamily="2" charset="0"/>
      <p:regular r:id="rId18"/>
      <p:bold r:id="rId19"/>
      <p:italic r:id="rId20"/>
      <p:boldItalic r:id="rId21"/>
    </p:embeddedFont>
    <p:embeddedFont>
      <p:font typeface="Montserrat Classic" panose="020B0604020202020204" charset="0"/>
      <p:regular r:id="rId22"/>
    </p:embeddedFont>
    <p:embeddedFont>
      <p:font typeface="Montserrat Classic Bold" panose="020B0604020202020204" charset="0"/>
      <p:regular r:id="rId23"/>
    </p:embeddedFont>
    <p:embeddedFont>
      <p:font typeface="Poppins" panose="00000500000000000000" pitchFamily="2" charset="0"/>
      <p:regular r:id="rId24"/>
      <p:bold r:id="rId25"/>
      <p:italic r:id="rId26"/>
      <p:bold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2D7A"/>
    <a:srgbClr val="000B5D"/>
    <a:srgbClr val="3E95BE"/>
    <a:srgbClr val="0063A1"/>
    <a:srgbClr val="F3FE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946" y="14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font" Target="fonts/font4.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7.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27E130C-F7EA-28D1-794F-664D37D8E87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FC4CF1CB-5AA6-9D86-5AEF-35DB945A432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738F49-671E-473E-AA7F-E4EE2108904A}" type="datetimeFigureOut">
              <a:rPr lang="en-CA" smtClean="0"/>
              <a:t>2024-12-15</a:t>
            </a:fld>
            <a:endParaRPr lang="en-CA"/>
          </a:p>
        </p:txBody>
      </p:sp>
      <p:sp>
        <p:nvSpPr>
          <p:cNvPr id="4" name="Footer Placeholder 3">
            <a:extLst>
              <a:ext uri="{FF2B5EF4-FFF2-40B4-BE49-F238E27FC236}">
                <a16:creationId xmlns:a16="http://schemas.microsoft.com/office/drawing/2014/main" id="{5215521B-0992-4CDA-3A7B-4CD38AA0A12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D71FB16F-122D-4035-FD20-82F876EDAC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A814634-B68A-49E1-A1D6-79C53B2572FF}" type="slidenum">
              <a:rPr lang="en-CA" smtClean="0"/>
              <a:t>‹#›</a:t>
            </a:fld>
            <a:endParaRPr lang="en-CA"/>
          </a:p>
        </p:txBody>
      </p:sp>
    </p:spTree>
    <p:extLst>
      <p:ext uri="{BB962C8B-B14F-4D97-AF65-F5344CB8AC3E}">
        <p14:creationId xmlns:p14="http://schemas.microsoft.com/office/powerpoint/2010/main" val="355304451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EC1E4F-3FFF-48FC-8B56-FDF0DF058373}" type="datetimeFigureOut">
              <a:rPr lang="en-CA" smtClean="0"/>
              <a:t>2024-12-14</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4267B-6BE6-473E-97AF-12A3051141C5}" type="slidenum">
              <a:rPr lang="en-CA" smtClean="0"/>
              <a:t>‹#›</a:t>
            </a:fld>
            <a:endParaRPr lang="en-CA"/>
          </a:p>
        </p:txBody>
      </p:sp>
    </p:spTree>
    <p:extLst>
      <p:ext uri="{BB962C8B-B14F-4D97-AF65-F5344CB8AC3E}">
        <p14:creationId xmlns:p14="http://schemas.microsoft.com/office/powerpoint/2010/main" val="10192052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8A14267B-6BE6-473E-97AF-12A3051141C5}" type="slidenum">
              <a:rPr lang="en-CA" smtClean="0"/>
              <a:t>3</a:t>
            </a:fld>
            <a:endParaRPr lang="en-CA"/>
          </a:p>
        </p:txBody>
      </p:sp>
    </p:spTree>
    <p:extLst>
      <p:ext uri="{BB962C8B-B14F-4D97-AF65-F5344CB8AC3E}">
        <p14:creationId xmlns:p14="http://schemas.microsoft.com/office/powerpoint/2010/main" val="2939481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8A14267B-6BE6-473E-97AF-12A3051141C5}" type="slidenum">
              <a:rPr lang="en-CA" smtClean="0"/>
              <a:t>5</a:t>
            </a:fld>
            <a:endParaRPr lang="en-CA"/>
          </a:p>
        </p:txBody>
      </p:sp>
    </p:spTree>
    <p:extLst>
      <p:ext uri="{BB962C8B-B14F-4D97-AF65-F5344CB8AC3E}">
        <p14:creationId xmlns:p14="http://schemas.microsoft.com/office/powerpoint/2010/main" val="21502399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8A14267B-6BE6-473E-97AF-12A3051141C5}" type="slidenum">
              <a:rPr lang="en-CA" smtClean="0"/>
              <a:t>6</a:t>
            </a:fld>
            <a:endParaRPr lang="en-CA"/>
          </a:p>
        </p:txBody>
      </p:sp>
    </p:spTree>
    <p:extLst>
      <p:ext uri="{BB962C8B-B14F-4D97-AF65-F5344CB8AC3E}">
        <p14:creationId xmlns:p14="http://schemas.microsoft.com/office/powerpoint/2010/main" val="18768408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39089-802B-C82E-368E-52B6834574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FA54BE-0504-5B16-3D86-1D401209E9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27FF81-31DF-C2D9-FC89-C02E2360D788}"/>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712DDC38-1687-754F-4D69-2BD1EC8B3DA8}"/>
              </a:ext>
            </a:extLst>
          </p:cNvPr>
          <p:cNvSpPr>
            <a:spLocks noGrp="1"/>
          </p:cNvSpPr>
          <p:nvPr>
            <p:ph type="sldNum" sz="quarter" idx="5"/>
          </p:nvPr>
        </p:nvSpPr>
        <p:spPr/>
        <p:txBody>
          <a:bodyPr/>
          <a:lstStyle/>
          <a:p>
            <a:fld id="{8A14267B-6BE6-473E-97AF-12A3051141C5}" type="slidenum">
              <a:rPr lang="en-CA" smtClean="0"/>
              <a:t>9</a:t>
            </a:fld>
            <a:endParaRPr lang="en-CA"/>
          </a:p>
        </p:txBody>
      </p:sp>
    </p:spTree>
    <p:extLst>
      <p:ext uri="{BB962C8B-B14F-4D97-AF65-F5344CB8AC3E}">
        <p14:creationId xmlns:p14="http://schemas.microsoft.com/office/powerpoint/2010/main" val="38869443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C966567-864D-44F4-B3F3-D91917324AE7}" type="datetime1">
              <a:rPr lang="en-US" smtClean="0"/>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BE7601-E587-4557-A2EA-C48E8E5248AB}" type="datetime1">
              <a:rPr lang="en-US" smtClean="0"/>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C84380-D385-4EF0-A917-9AEFF6C7BD12}" type="datetime1">
              <a:rPr lang="en-US" smtClean="0"/>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C7BFC8F-7043-4748-8E19-52560C6F2611}" type="datetime1">
              <a:rPr lang="en-US" smtClean="0"/>
              <a:t>12/15/2024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85C6BC4-A5A2-4FA5-8F09-565DF2522CD7}" type="datetime1">
              <a:rPr lang="en-US" smtClean="0"/>
              <a:t>12/15/2024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49E0BB-CCCC-4F87-B659-5932FB6612F8}" type="datetime1">
              <a:rPr lang="en-US" smtClean="0"/>
              <a:t>12/15/2024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1FC607-A097-4338-BCCD-91FDE206E695}" type="datetime1">
              <a:rPr lang="en-US" smtClean="0"/>
              <a:t>12/15/2024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A7D41F-78AA-4717-A31D-FB5B776692BB}" type="datetime1">
              <a:rPr lang="en-US" smtClean="0"/>
              <a:t>12/15/2024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6E96410-4489-4C59-B1A4-3839DA026B25}" type="datetime1">
              <a:rPr lang="en-US" smtClean="0"/>
              <a:t>12/15/2024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C4D2AD-1655-41F2-ADA4-5381846AE2C2}" type="datetime1">
              <a:rPr lang="en-US" smtClean="0"/>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EAF757-EDF7-4A4F-8B49-0CBFC01CC70A}" type="datetime1">
              <a:rPr lang="en-US" smtClean="0"/>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805A04-45C5-41FB-B427-8B3BFBEF3613}" type="datetime1">
              <a:rPr lang="en-US" smtClean="0"/>
              <a:t>12/15/2024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hyperlink" Target="https://www.oreilly.com/library/view/storytelling-with-data/9781119002253/" TargetMode="External"/><Relationship Id="rId4" Type="http://schemas.openxmlformats.org/officeDocument/2006/relationships/hyperlink" Target="https://www.flaticon.com/free-icon/logistics_4394250"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001494" y="8323039"/>
            <a:ext cx="4723978" cy="4723978"/>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8377C"/>
              </a:solidFill>
              <a:prstDash val="solid"/>
              <a:miter/>
            </a:ln>
          </p:spPr>
          <p:txBody>
            <a:bodyPr/>
            <a:lstStyle/>
            <a:p>
              <a:endParaRPr lang="en-CA"/>
            </a:p>
          </p:txBody>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3549293" y="1076697"/>
            <a:ext cx="628242" cy="620246"/>
          </a:xfrm>
          <a:custGeom>
            <a:avLst/>
            <a:gdLst/>
            <a:ahLst/>
            <a:cxnLst/>
            <a:rect l="l" t="t" r="r" b="b"/>
            <a:pathLst>
              <a:path w="628242" h="620246">
                <a:moveTo>
                  <a:pt x="0" y="0"/>
                </a:moveTo>
                <a:lnTo>
                  <a:pt x="628242" y="0"/>
                </a:lnTo>
                <a:lnTo>
                  <a:pt x="628242" y="620246"/>
                </a:lnTo>
                <a:lnTo>
                  <a:pt x="0" y="6202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6" name="TextBox 6"/>
          <p:cNvSpPr txBox="1"/>
          <p:nvPr/>
        </p:nvSpPr>
        <p:spPr>
          <a:xfrm>
            <a:off x="14287926" y="1038225"/>
            <a:ext cx="1714156" cy="658718"/>
          </a:xfrm>
          <a:prstGeom prst="rect">
            <a:avLst/>
          </a:prstGeom>
        </p:spPr>
        <p:txBody>
          <a:bodyPr lIns="0" tIns="0" rIns="0" bIns="0" rtlCol="0" anchor="t">
            <a:spAutoFit/>
          </a:bodyPr>
          <a:lstStyle/>
          <a:p>
            <a:pPr algn="l">
              <a:lnSpc>
                <a:spcPts val="2591"/>
              </a:lnSpc>
            </a:pPr>
            <a:r>
              <a:rPr lang="en-US" sz="2234" spc="87">
                <a:solidFill>
                  <a:srgbClr val="2A2E3A"/>
                </a:solidFill>
                <a:latin typeface="Montserrat Classic"/>
                <a:ea typeface="Montserrat Classic"/>
                <a:cs typeface="Montserrat Classic"/>
                <a:sym typeface="Montserrat Classic"/>
              </a:rPr>
              <a:t>Borcelle Company</a:t>
            </a:r>
          </a:p>
        </p:txBody>
      </p:sp>
      <p:grpSp>
        <p:nvGrpSpPr>
          <p:cNvPr id="7" name="Group 7"/>
          <p:cNvGrpSpPr/>
          <p:nvPr/>
        </p:nvGrpSpPr>
        <p:grpSpPr>
          <a:xfrm>
            <a:off x="12019980" y="-5099450"/>
            <a:ext cx="11212168" cy="11212123"/>
            <a:chOff x="0" y="0"/>
            <a:chExt cx="6350000" cy="6349975"/>
          </a:xfrm>
        </p:grpSpPr>
        <p:sp>
          <p:nvSpPr>
            <p:cNvPr id="8" name="Freeform 8"/>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solidFill>
              <a:srgbClr val="08377C"/>
            </a:solidFill>
            <a:ln w="12700">
              <a:solidFill>
                <a:srgbClr val="000000"/>
              </a:solidFill>
            </a:ln>
          </p:spPr>
          <p:txBody>
            <a:bodyPr/>
            <a:lstStyle/>
            <a:p>
              <a:endParaRPr lang="en-CA"/>
            </a:p>
          </p:txBody>
        </p:sp>
      </p:grpSp>
      <p:grpSp>
        <p:nvGrpSpPr>
          <p:cNvPr id="9" name="Group 9"/>
          <p:cNvGrpSpPr/>
          <p:nvPr/>
        </p:nvGrpSpPr>
        <p:grpSpPr>
          <a:xfrm>
            <a:off x="12019980" y="-5099450"/>
            <a:ext cx="11212168" cy="11212123"/>
            <a:chOff x="0" y="0"/>
            <a:chExt cx="6350000" cy="6349975"/>
          </a:xfrm>
        </p:grpSpPr>
        <p:sp>
          <p:nvSpPr>
            <p:cNvPr id="10" name="Freeform 10"/>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alphaModFix amt="49000"/>
              </a:blip>
              <a:stretch>
                <a:fillRect l="-25046" r="-25046"/>
              </a:stretch>
            </a:blipFill>
          </p:spPr>
          <p:txBody>
            <a:bodyPr/>
            <a:lstStyle/>
            <a:p>
              <a:endParaRPr lang="en-CA"/>
            </a:p>
          </p:txBody>
        </p:sp>
      </p:grpSp>
      <p:grpSp>
        <p:nvGrpSpPr>
          <p:cNvPr id="11" name="Group 11"/>
          <p:cNvGrpSpPr/>
          <p:nvPr/>
        </p:nvGrpSpPr>
        <p:grpSpPr>
          <a:xfrm>
            <a:off x="15496482" y="-1622972"/>
            <a:ext cx="4837174" cy="483717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CA"/>
            </a:p>
          </p:txBody>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4653480" y="5971432"/>
            <a:ext cx="843002" cy="84300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8377C"/>
            </a:solidFill>
            <a:ln cap="sq">
              <a:noFill/>
              <a:prstDash val="solid"/>
              <a:miter/>
            </a:ln>
          </p:spPr>
          <p:txBody>
            <a:bodyPr/>
            <a:lstStyle/>
            <a:p>
              <a:endParaRPr lang="en-CA"/>
            </a:p>
          </p:txBody>
        </p:sp>
        <p:sp>
          <p:nvSpPr>
            <p:cNvPr id="16" name="TextBox 16"/>
            <p:cNvSpPr txBox="1"/>
            <p:nvPr/>
          </p:nvSpPr>
          <p:spPr>
            <a:xfrm>
              <a:off x="76200" y="38100"/>
              <a:ext cx="660400" cy="698500"/>
            </a:xfrm>
            <a:prstGeom prst="rect">
              <a:avLst/>
            </a:prstGeom>
          </p:spPr>
          <p:txBody>
            <a:bodyPr lIns="50800" tIns="50800" rIns="50800" bIns="50800" rtlCol="0" anchor="ctr"/>
            <a:lstStyle/>
            <a:p>
              <a:pPr marL="0" lvl="0" indent="0" algn="ctr">
                <a:lnSpc>
                  <a:spcPts val="3079"/>
                </a:lnSpc>
                <a:spcBef>
                  <a:spcPct val="0"/>
                </a:spcBef>
              </a:pPr>
              <a:endParaRPr/>
            </a:p>
          </p:txBody>
        </p:sp>
      </p:grpSp>
      <p:grpSp>
        <p:nvGrpSpPr>
          <p:cNvPr id="17" name="Group 17"/>
          <p:cNvGrpSpPr/>
          <p:nvPr/>
        </p:nvGrpSpPr>
        <p:grpSpPr>
          <a:xfrm>
            <a:off x="-559418" y="-811125"/>
            <a:ext cx="1839825" cy="1839825"/>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8377C"/>
            </a:solidFill>
            <a:ln cap="sq">
              <a:noFill/>
              <a:prstDash val="solid"/>
              <a:miter/>
            </a:ln>
          </p:spPr>
          <p:txBody>
            <a:bodyPr/>
            <a:lstStyle/>
            <a:p>
              <a:endParaRPr lang="en-CA"/>
            </a:p>
          </p:txBody>
        </p:sp>
        <p:sp>
          <p:nvSpPr>
            <p:cNvPr id="19" name="TextBox 19"/>
            <p:cNvSpPr txBox="1"/>
            <p:nvPr/>
          </p:nvSpPr>
          <p:spPr>
            <a:xfrm>
              <a:off x="76200" y="38100"/>
              <a:ext cx="660400" cy="698500"/>
            </a:xfrm>
            <a:prstGeom prst="rect">
              <a:avLst/>
            </a:prstGeom>
          </p:spPr>
          <p:txBody>
            <a:bodyPr lIns="50800" tIns="50800" rIns="50800" bIns="50800" rtlCol="0" anchor="ctr"/>
            <a:lstStyle/>
            <a:p>
              <a:pPr marL="0" lvl="0" indent="0" algn="ctr">
                <a:lnSpc>
                  <a:spcPts val="3079"/>
                </a:lnSpc>
                <a:spcBef>
                  <a:spcPct val="0"/>
                </a:spcBef>
              </a:pPr>
              <a:endParaRPr/>
            </a:p>
          </p:txBody>
        </p:sp>
      </p:grpSp>
      <p:sp>
        <p:nvSpPr>
          <p:cNvPr id="45" name="TextBox 8">
            <a:extLst>
              <a:ext uri="{FF2B5EF4-FFF2-40B4-BE49-F238E27FC236}">
                <a16:creationId xmlns:a16="http://schemas.microsoft.com/office/drawing/2014/main" id="{6D856B0A-173E-AEDE-89D1-FA56E631C21B}"/>
              </a:ext>
            </a:extLst>
          </p:cNvPr>
          <p:cNvSpPr txBox="1"/>
          <p:nvPr/>
        </p:nvSpPr>
        <p:spPr>
          <a:xfrm>
            <a:off x="1539240" y="2920982"/>
            <a:ext cx="10495980" cy="3548664"/>
          </a:xfrm>
          <a:prstGeom prst="rect">
            <a:avLst/>
          </a:prstGeom>
        </p:spPr>
        <p:txBody>
          <a:bodyPr wrap="square" lIns="0" tIns="0" rIns="0" bIns="0" rtlCol="0" anchor="t">
            <a:spAutoFit/>
          </a:bodyPr>
          <a:lstStyle/>
          <a:p>
            <a:pPr lvl="0">
              <a:lnSpc>
                <a:spcPct val="125000"/>
              </a:lnSpc>
              <a:spcBef>
                <a:spcPts val="600"/>
              </a:spcBef>
              <a:spcAft>
                <a:spcPts val="800"/>
              </a:spcAft>
              <a:buSzPts val="1000"/>
              <a:tabLst>
                <a:tab pos="457200" algn="l"/>
              </a:tabLst>
            </a:pPr>
            <a:r>
              <a:rPr lang="en-CA" sz="5400" b="1" spc="-5" dirty="0">
                <a:solidFill>
                  <a:schemeClr val="tx2">
                    <a:lumMod val="75000"/>
                  </a:schemeClr>
                </a:solidFill>
                <a:effectLst/>
                <a:latin typeface="Poppins" panose="00000500000000000000" pitchFamily="2" charset="0"/>
                <a:ea typeface="Times New Roman" panose="02020603050405020304" pitchFamily="18" charset="0"/>
                <a:cs typeface="Poppins" panose="00000500000000000000" pitchFamily="2" charset="0"/>
              </a:rPr>
              <a:t>Impact of COVID-19 on ABC Company’s Parcel Delivery Business.</a:t>
            </a:r>
            <a:br>
              <a:rPr lang="en-CA" sz="5400" b="1" spc="-5" dirty="0">
                <a:solidFill>
                  <a:schemeClr val="tx2">
                    <a:lumMod val="75000"/>
                  </a:schemeClr>
                </a:solidFill>
                <a:effectLst/>
                <a:latin typeface="Poppins" panose="00000500000000000000" pitchFamily="2" charset="0"/>
                <a:ea typeface="Times New Roman" panose="02020603050405020304" pitchFamily="18" charset="0"/>
                <a:cs typeface="Poppins" panose="00000500000000000000" pitchFamily="2" charset="0"/>
              </a:rPr>
            </a:br>
            <a:r>
              <a:rPr lang="en-CA" sz="2400" b="1" i="1" spc="-5" dirty="0">
                <a:solidFill>
                  <a:schemeClr val="tx2">
                    <a:lumMod val="75000"/>
                  </a:schemeClr>
                </a:solidFill>
                <a:effectLst/>
                <a:latin typeface="Poppins" panose="00000500000000000000" pitchFamily="2" charset="0"/>
                <a:ea typeface="Times New Roman" panose="02020603050405020304" pitchFamily="18" charset="0"/>
                <a:cs typeface="Poppins" panose="00000500000000000000" pitchFamily="2" charset="0"/>
              </a:rPr>
              <a:t>By Group 2</a:t>
            </a:r>
            <a:endParaRPr lang="en-CA" sz="2400" b="1" i="1" dirty="0">
              <a:solidFill>
                <a:schemeClr val="tx2">
                  <a:lumMod val="75000"/>
                </a:schemeClr>
              </a:solidFill>
              <a:effectLst/>
              <a:latin typeface="Poppins" panose="00000500000000000000" pitchFamily="2" charset="0"/>
              <a:ea typeface="Times New Roman" panose="02020603050405020304" pitchFamily="18" charset="0"/>
              <a:cs typeface="Poppins" panose="00000500000000000000" pitchFamily="2" charset="0"/>
            </a:endParaRPr>
          </a:p>
        </p:txBody>
      </p:sp>
      <p:pic>
        <p:nvPicPr>
          <p:cNvPr id="46" name="Picture 45" descr="A blue truck with a box on top&#10;&#10;Description automatically generated">
            <a:extLst>
              <a:ext uri="{FF2B5EF4-FFF2-40B4-BE49-F238E27FC236}">
                <a16:creationId xmlns:a16="http://schemas.microsoft.com/office/drawing/2014/main" id="{1083D35F-74A0-3E4B-2B89-35B0D5B6CE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732511" y="7408428"/>
            <a:ext cx="3276600" cy="3276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9"/>
          <p:cNvSpPr/>
          <p:nvPr/>
        </p:nvSpPr>
        <p:spPr>
          <a:xfrm>
            <a:off x="838200" y="571500"/>
            <a:ext cx="16230600" cy="0"/>
          </a:xfrm>
          <a:prstGeom prst="line">
            <a:avLst/>
          </a:prstGeom>
          <a:ln>
            <a:headEnd type="none" w="sm" len="sm"/>
            <a:tailEnd type="none" w="sm" len="sm"/>
          </a:ln>
        </p:spPr>
        <p:style>
          <a:lnRef idx="1">
            <a:schemeClr val="accent1"/>
          </a:lnRef>
          <a:fillRef idx="0">
            <a:schemeClr val="accent1"/>
          </a:fillRef>
          <a:effectRef idx="0">
            <a:schemeClr val="accent1"/>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 name="Freeform 10"/>
          <p:cNvSpPr/>
          <p:nvPr/>
        </p:nvSpPr>
        <p:spPr>
          <a:xfrm flipH="1">
            <a:off x="-4571692" y="2024884"/>
            <a:ext cx="9143383" cy="7431077"/>
          </a:xfrm>
          <a:custGeom>
            <a:avLst/>
            <a:gdLst/>
            <a:ahLst/>
            <a:cxnLst/>
            <a:rect l="l" t="t" r="r" b="b"/>
            <a:pathLst>
              <a:path w="9143383" h="7431077">
                <a:moveTo>
                  <a:pt x="9143383" y="0"/>
                </a:moveTo>
                <a:lnTo>
                  <a:pt x="0" y="0"/>
                </a:lnTo>
                <a:lnTo>
                  <a:pt x="0" y="7431076"/>
                </a:lnTo>
                <a:lnTo>
                  <a:pt x="9143383" y="7431076"/>
                </a:lnTo>
                <a:lnTo>
                  <a:pt x="9143383"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4" name="TextBox 13">
            <a:extLst>
              <a:ext uri="{FF2B5EF4-FFF2-40B4-BE49-F238E27FC236}">
                <a16:creationId xmlns:a16="http://schemas.microsoft.com/office/drawing/2014/main" id="{0B9BF369-6273-47B9-4D00-B20BDCC160FC}"/>
              </a:ext>
            </a:extLst>
          </p:cNvPr>
          <p:cNvSpPr txBox="1"/>
          <p:nvPr/>
        </p:nvSpPr>
        <p:spPr>
          <a:xfrm>
            <a:off x="6115368" y="1811577"/>
            <a:ext cx="10134600" cy="6641818"/>
          </a:xfrm>
          <a:prstGeom prst="rect">
            <a:avLst/>
          </a:prstGeom>
          <a:noFill/>
        </p:spPr>
        <p:txBody>
          <a:bodyPr wrap="square" rtlCol="0">
            <a:spAutoFit/>
          </a:bodyPr>
          <a:lstStyle/>
          <a:p>
            <a:pPr marL="742950" marR="0" lvl="0" indent="-742950" algn="l" defTabSz="914400" rtl="0" eaLnBrk="1" fontAlgn="auto" latinLnBrk="0" hangingPunct="1">
              <a:lnSpc>
                <a:spcPct val="200000"/>
              </a:lnSpc>
              <a:spcBef>
                <a:spcPts val="0"/>
              </a:spcBef>
              <a:spcAft>
                <a:spcPts val="0"/>
              </a:spcAft>
              <a:buClrTx/>
              <a:buSzTx/>
              <a:buFont typeface="Wingdings" panose="05000000000000000000" pitchFamily="2" charset="2"/>
              <a:buChar char="§"/>
              <a:tabLst/>
              <a:defRPr/>
            </a:pPr>
            <a:r>
              <a:rPr kumimoji="0" lang="en-CA" sz="2400" i="0" u="none" strike="noStrike" kern="1200" cap="none" spc="0" normalizeH="0" baseline="0" noProof="0" dirty="0">
                <a:ln>
                  <a:noFill/>
                </a:ln>
                <a:solidFill>
                  <a:srgbClr val="000B5D"/>
                </a:solidFill>
                <a:effectLst/>
                <a:uLnTx/>
                <a:uFillTx/>
                <a:latin typeface="Poppins" panose="00000500000000000000" pitchFamily="2" charset="0"/>
                <a:cs typeface="Poppins" panose="00000500000000000000" pitchFamily="2" charset="0"/>
              </a:rPr>
              <a:t>Executive Summary</a:t>
            </a:r>
            <a:endParaRPr lang="en-CA" sz="2400" dirty="0">
              <a:solidFill>
                <a:srgbClr val="000B5D"/>
              </a:solidFill>
              <a:latin typeface="Poppins" panose="00000500000000000000" pitchFamily="2" charset="0"/>
              <a:cs typeface="Poppins" panose="00000500000000000000" pitchFamily="2" charset="0"/>
            </a:endParaRPr>
          </a:p>
          <a:p>
            <a:pPr marL="742950" marR="0" lvl="0" indent="-742950" algn="l" defTabSz="914400" rtl="0" eaLnBrk="1" fontAlgn="auto" latinLnBrk="0" hangingPunct="1">
              <a:lnSpc>
                <a:spcPct val="200000"/>
              </a:lnSpc>
              <a:spcBef>
                <a:spcPts val="0"/>
              </a:spcBef>
              <a:spcAft>
                <a:spcPts val="0"/>
              </a:spcAft>
              <a:buClrTx/>
              <a:buSzTx/>
              <a:buFont typeface="Wingdings" panose="05000000000000000000" pitchFamily="2" charset="2"/>
              <a:buChar char="§"/>
              <a:tabLst/>
              <a:defRPr/>
            </a:pPr>
            <a:r>
              <a:rPr lang="en-US" sz="2400" dirty="0">
                <a:solidFill>
                  <a:srgbClr val="000B5D"/>
                </a:solidFill>
                <a:latin typeface="Poppins" panose="00000500000000000000" pitchFamily="2" charset="0"/>
                <a:ea typeface="Open Sans Extra Bold" panose="020B0604020202020204" charset="0"/>
                <a:cs typeface="Poppins" panose="00000500000000000000" pitchFamily="2" charset="0"/>
              </a:rPr>
              <a:t>First Impact of COVID-19 on Customer Volumes</a:t>
            </a:r>
            <a:endParaRPr lang="en-US" sz="2400" spc="178" dirty="0">
              <a:solidFill>
                <a:srgbClr val="000B5D"/>
              </a:solidFill>
              <a:latin typeface="Poppins" panose="00000500000000000000" pitchFamily="2" charset="0"/>
              <a:ea typeface="Open Sans Extra Bold" panose="020B0604020202020204" charset="0"/>
              <a:cs typeface="Poppins" panose="00000500000000000000" pitchFamily="2" charset="0"/>
              <a:sym typeface="Montserrat Classic Bold"/>
            </a:endParaRPr>
          </a:p>
          <a:p>
            <a:pPr marL="742950" marR="0" lvl="0" indent="-742950" algn="l" defTabSz="914400" rtl="0" eaLnBrk="1" fontAlgn="auto" latinLnBrk="0" hangingPunct="1">
              <a:lnSpc>
                <a:spcPct val="200000"/>
              </a:lnSpc>
              <a:spcBef>
                <a:spcPts val="0"/>
              </a:spcBef>
              <a:spcAft>
                <a:spcPts val="0"/>
              </a:spcAft>
              <a:buClrTx/>
              <a:buSzTx/>
              <a:buFont typeface="Wingdings" panose="05000000000000000000" pitchFamily="2" charset="2"/>
              <a:buChar char="§"/>
              <a:tabLst/>
              <a:defRPr/>
            </a:pPr>
            <a:r>
              <a:rPr lang="en-US" sz="2400" dirty="0">
                <a:solidFill>
                  <a:srgbClr val="000B5D"/>
                </a:solidFill>
                <a:latin typeface="Poppins" panose="00000500000000000000" pitchFamily="2" charset="0"/>
                <a:ea typeface="Open Sans Extra Bold" panose="020B0604020202020204" charset="0"/>
                <a:cs typeface="Poppins" panose="00000500000000000000" pitchFamily="2" charset="0"/>
              </a:rPr>
              <a:t>Key Events in the COVID-19 Timeline Impacting Change</a:t>
            </a:r>
            <a:endParaRPr lang="en-US" sz="2400" spc="178" dirty="0">
              <a:solidFill>
                <a:srgbClr val="000B5D"/>
              </a:solidFill>
              <a:latin typeface="Poppins" panose="00000500000000000000" pitchFamily="2" charset="0"/>
              <a:ea typeface="Open Sans Extra Bold" panose="020B0604020202020204" charset="0"/>
              <a:cs typeface="Poppins" panose="00000500000000000000" pitchFamily="2" charset="0"/>
              <a:sym typeface="Montserrat Classic Bold"/>
            </a:endParaRPr>
          </a:p>
          <a:p>
            <a:pPr marL="742950" marR="0" lvl="0" indent="-742950" algn="l" defTabSz="914400" rtl="0" eaLnBrk="1" fontAlgn="auto" latinLnBrk="0" hangingPunct="1">
              <a:lnSpc>
                <a:spcPct val="200000"/>
              </a:lnSpc>
              <a:spcBef>
                <a:spcPts val="0"/>
              </a:spcBef>
              <a:spcAft>
                <a:spcPts val="0"/>
              </a:spcAft>
              <a:buClrTx/>
              <a:buSzTx/>
              <a:buFont typeface="Wingdings" panose="05000000000000000000" pitchFamily="2" charset="2"/>
              <a:buChar char="§"/>
              <a:tabLst/>
              <a:defRPr/>
            </a:pPr>
            <a:r>
              <a:rPr lang="en-CA" sz="2400" dirty="0">
                <a:solidFill>
                  <a:srgbClr val="000B5D"/>
                </a:solidFill>
                <a:latin typeface="Poppins" panose="00000500000000000000" pitchFamily="2" charset="0"/>
                <a:cs typeface="Poppins" panose="00000500000000000000" pitchFamily="2" charset="0"/>
              </a:rPr>
              <a:t>Impact of COVID-19 in Peak season of 2020</a:t>
            </a:r>
          </a:p>
          <a:p>
            <a:pPr marL="742950" indent="-742950">
              <a:lnSpc>
                <a:spcPct val="200000"/>
              </a:lnSpc>
              <a:buFont typeface="Wingdings" panose="05000000000000000000" pitchFamily="2" charset="2"/>
              <a:buChar char="§"/>
              <a:defRPr/>
            </a:pPr>
            <a:r>
              <a:rPr lang="en-US" sz="2400" dirty="0">
                <a:solidFill>
                  <a:srgbClr val="000B5D"/>
                </a:solidFill>
                <a:latin typeface="Poppins" panose="00000500000000000000" pitchFamily="2" charset="0"/>
                <a:cs typeface="Poppins" panose="00000500000000000000" pitchFamily="2" charset="0"/>
              </a:rPr>
              <a:t>Impact of COVID-19 on Customer Groups</a:t>
            </a:r>
          </a:p>
          <a:p>
            <a:pPr marL="742950" indent="-742950">
              <a:lnSpc>
                <a:spcPct val="200000"/>
              </a:lnSpc>
              <a:buFont typeface="Wingdings" panose="05000000000000000000" pitchFamily="2" charset="2"/>
              <a:buChar char="§"/>
              <a:defRPr/>
            </a:pPr>
            <a:r>
              <a:rPr lang="en-US" sz="2400" dirty="0">
                <a:solidFill>
                  <a:srgbClr val="000B5D"/>
                </a:solidFill>
                <a:latin typeface="Poppins" panose="00000500000000000000" pitchFamily="2" charset="0"/>
                <a:cs typeface="Poppins" panose="00000500000000000000" pitchFamily="2" charset="0"/>
              </a:rPr>
              <a:t>Customer Group Growth Distribution During COVID Period</a:t>
            </a:r>
          </a:p>
          <a:p>
            <a:pPr marL="742950" indent="-742950">
              <a:lnSpc>
                <a:spcPct val="200000"/>
              </a:lnSpc>
              <a:buFont typeface="Wingdings" panose="05000000000000000000" pitchFamily="2" charset="2"/>
              <a:buChar char="§"/>
              <a:defRPr/>
            </a:pPr>
            <a:r>
              <a:rPr lang="en-US" sz="2400" dirty="0">
                <a:solidFill>
                  <a:srgbClr val="000B5D"/>
                </a:solidFill>
                <a:latin typeface="Poppins" panose="00000500000000000000" pitchFamily="2" charset="0"/>
                <a:cs typeface="Poppins" panose="00000500000000000000" pitchFamily="2" charset="0"/>
              </a:rPr>
              <a:t>New Customer Percentage and 2019 Loss During COVID</a:t>
            </a:r>
          </a:p>
          <a:p>
            <a:pPr marL="742950" indent="-742950">
              <a:lnSpc>
                <a:spcPct val="200000"/>
              </a:lnSpc>
              <a:buFont typeface="Wingdings" panose="05000000000000000000" pitchFamily="2" charset="2"/>
              <a:buChar char="§"/>
              <a:defRPr/>
            </a:pPr>
            <a:r>
              <a:rPr lang="en-US" sz="2400" spc="178" dirty="0">
                <a:solidFill>
                  <a:srgbClr val="000B5D"/>
                </a:solidFill>
                <a:latin typeface="Poppins" panose="00000500000000000000" pitchFamily="2" charset="0"/>
                <a:ea typeface="Montserrat Classic Bold"/>
                <a:cs typeface="Poppins" panose="00000500000000000000" pitchFamily="2" charset="0"/>
                <a:sym typeface="Montserrat Classic Bold"/>
              </a:rPr>
              <a:t>Covid Impact on Revenue by Customer Group</a:t>
            </a:r>
          </a:p>
          <a:p>
            <a:pPr marL="742950" indent="-742950">
              <a:lnSpc>
                <a:spcPct val="200000"/>
              </a:lnSpc>
              <a:buFont typeface="Wingdings" panose="05000000000000000000" pitchFamily="2" charset="2"/>
              <a:buChar char="§"/>
              <a:defRPr/>
            </a:pPr>
            <a:r>
              <a:rPr lang="en-US" sz="2400" spc="178" dirty="0">
                <a:solidFill>
                  <a:srgbClr val="000B5D"/>
                </a:solidFill>
                <a:latin typeface="Poppins" panose="00000500000000000000" pitchFamily="2" charset="0"/>
                <a:ea typeface="Montserrat Classic Bold"/>
                <a:cs typeface="Poppins" panose="00000500000000000000" pitchFamily="2" charset="0"/>
                <a:sym typeface="Montserrat Classic Bold"/>
              </a:rPr>
              <a:t>Covid Impact on Parcel Volumes by Customer Group</a:t>
            </a:r>
          </a:p>
        </p:txBody>
      </p:sp>
      <p:sp>
        <p:nvSpPr>
          <p:cNvPr id="15" name="TextBox 23">
            <a:extLst>
              <a:ext uri="{FF2B5EF4-FFF2-40B4-BE49-F238E27FC236}">
                <a16:creationId xmlns:a16="http://schemas.microsoft.com/office/drawing/2014/main" id="{AF914DAB-9043-30B6-7655-AD17848873B4}"/>
              </a:ext>
            </a:extLst>
          </p:cNvPr>
          <p:cNvSpPr txBox="1"/>
          <p:nvPr/>
        </p:nvSpPr>
        <p:spPr>
          <a:xfrm>
            <a:off x="3276600" y="1333500"/>
            <a:ext cx="4648200" cy="838306"/>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IN" sz="5400" b="1" i="0" u="none" strike="noStrike" kern="1200" cap="none" spc="0" normalizeH="0" baseline="0" noProof="0" dirty="0">
                <a:ln>
                  <a:noFill/>
                </a:ln>
                <a:solidFill>
                  <a:srgbClr val="000B5D"/>
                </a:solidFill>
                <a:effectLst/>
                <a:uLnTx/>
                <a:uFillTx/>
                <a:latin typeface="Poppins" panose="00000500000000000000" pitchFamily="2" charset="0"/>
                <a:ea typeface="+mn-ea"/>
                <a:cs typeface="Poppins" panose="00000500000000000000" pitchFamily="2" charset="0"/>
              </a:rPr>
              <a:t>Agenda</a:t>
            </a:r>
            <a:endParaRPr kumimoji="0" lang="en-US" sz="5400" b="1" i="0" u="none" strike="noStrike" kern="1200" cap="none" spc="0" normalizeH="0" baseline="0" noProof="0" dirty="0">
              <a:ln>
                <a:noFill/>
              </a:ln>
              <a:solidFill>
                <a:srgbClr val="000B5D"/>
              </a:solidFill>
              <a:effectLst/>
              <a:uLnTx/>
              <a:uFillTx/>
              <a:latin typeface="Poppins" panose="00000500000000000000" pitchFamily="2" charset="0"/>
              <a:ea typeface="+mn-ea"/>
              <a:cs typeface="Poppins" panose="00000500000000000000" pitchFamily="2" charset="0"/>
            </a:endParaRPr>
          </a:p>
        </p:txBody>
      </p:sp>
      <p:grpSp>
        <p:nvGrpSpPr>
          <p:cNvPr id="2" name="Group 10">
            <a:extLst>
              <a:ext uri="{FF2B5EF4-FFF2-40B4-BE49-F238E27FC236}">
                <a16:creationId xmlns:a16="http://schemas.microsoft.com/office/drawing/2014/main" id="{14C26C48-1CC9-E7E7-BFCA-1246139D87EB}"/>
              </a:ext>
            </a:extLst>
          </p:cNvPr>
          <p:cNvGrpSpPr/>
          <p:nvPr/>
        </p:nvGrpSpPr>
        <p:grpSpPr>
          <a:xfrm rot="-5400000">
            <a:off x="16024361" y="3003606"/>
            <a:ext cx="4238545" cy="288733"/>
            <a:chOff x="0" y="0"/>
            <a:chExt cx="1116325" cy="76045"/>
          </a:xfrm>
          <a:solidFill>
            <a:srgbClr val="0A2D7A"/>
          </a:solidFill>
        </p:grpSpPr>
        <p:sp>
          <p:nvSpPr>
            <p:cNvPr id="3" name="Freeform 11">
              <a:extLst>
                <a:ext uri="{FF2B5EF4-FFF2-40B4-BE49-F238E27FC236}">
                  <a16:creationId xmlns:a16="http://schemas.microsoft.com/office/drawing/2014/main" id="{9B18E461-6014-507F-CEE0-A8005A0C815A}"/>
                </a:ext>
              </a:extLst>
            </p:cNvPr>
            <p:cNvSpPr/>
            <p:nvPr/>
          </p:nvSpPr>
          <p:spPr>
            <a:xfrm>
              <a:off x="0" y="0"/>
              <a:ext cx="1116324" cy="76045"/>
            </a:xfrm>
            <a:custGeom>
              <a:avLst/>
              <a:gdLst/>
              <a:ahLst/>
              <a:cxnLst/>
              <a:rect l="l" t="t" r="r" b="b"/>
              <a:pathLst>
                <a:path w="1116324" h="76045">
                  <a:moveTo>
                    <a:pt x="0" y="0"/>
                  </a:moveTo>
                  <a:lnTo>
                    <a:pt x="1116324" y="0"/>
                  </a:lnTo>
                  <a:lnTo>
                    <a:pt x="1116324" y="76045"/>
                  </a:lnTo>
                  <a:lnTo>
                    <a:pt x="0" y="76045"/>
                  </a:lnTo>
                  <a:close/>
                </a:path>
              </a:pathLst>
            </a:custGeom>
            <a:grpFill/>
          </p:spPr>
          <p:txBody>
            <a:bodyPr/>
            <a:lstStyle/>
            <a:p>
              <a:endParaRPr lang="en-CA" dirty="0"/>
            </a:p>
          </p:txBody>
        </p:sp>
        <p:sp>
          <p:nvSpPr>
            <p:cNvPr id="4" name="TextBox 12">
              <a:extLst>
                <a:ext uri="{FF2B5EF4-FFF2-40B4-BE49-F238E27FC236}">
                  <a16:creationId xmlns:a16="http://schemas.microsoft.com/office/drawing/2014/main" id="{409252F5-0EE6-890B-ADDF-B1489CA5CC0B}"/>
                </a:ext>
              </a:extLst>
            </p:cNvPr>
            <p:cNvSpPr txBox="1"/>
            <p:nvPr/>
          </p:nvSpPr>
          <p:spPr>
            <a:xfrm>
              <a:off x="0" y="-38100"/>
              <a:ext cx="1116325" cy="114145"/>
            </a:xfrm>
            <a:prstGeom prst="rect">
              <a:avLst/>
            </a:prstGeom>
            <a:grpFill/>
          </p:spPr>
          <p:txBody>
            <a:bodyPr lIns="50800" tIns="50800" rIns="50800" bIns="50800" rtlCol="0" anchor="ctr"/>
            <a:lstStyle/>
            <a:p>
              <a:pPr algn="ctr">
                <a:lnSpc>
                  <a:spcPts val="2659"/>
                </a:lnSpc>
                <a:spcBef>
                  <a:spcPct val="0"/>
                </a:spcBef>
              </a:pPr>
              <a:endParaRPr dirty="0"/>
            </a:p>
          </p:txBody>
        </p:sp>
      </p:grpSp>
      <p:grpSp>
        <p:nvGrpSpPr>
          <p:cNvPr id="5" name="Group 31">
            <a:extLst>
              <a:ext uri="{FF2B5EF4-FFF2-40B4-BE49-F238E27FC236}">
                <a16:creationId xmlns:a16="http://schemas.microsoft.com/office/drawing/2014/main" id="{40CB8A22-B514-4D5A-FF89-93EDD77D2EFB}"/>
              </a:ext>
            </a:extLst>
          </p:cNvPr>
          <p:cNvGrpSpPr/>
          <p:nvPr/>
        </p:nvGrpSpPr>
        <p:grpSpPr>
          <a:xfrm>
            <a:off x="14897311" y="8572500"/>
            <a:ext cx="4723978" cy="4723978"/>
            <a:chOff x="0" y="0"/>
            <a:chExt cx="812800" cy="812800"/>
          </a:xfrm>
        </p:grpSpPr>
        <p:sp>
          <p:nvSpPr>
            <p:cNvPr id="6" name="Freeform 32">
              <a:extLst>
                <a:ext uri="{FF2B5EF4-FFF2-40B4-BE49-F238E27FC236}">
                  <a16:creationId xmlns:a16="http://schemas.microsoft.com/office/drawing/2014/main" id="{F7236B31-937E-1025-1C78-045A0129AA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8377C"/>
              </a:solidFill>
              <a:prstDash val="solid"/>
              <a:miter/>
            </a:ln>
          </p:spPr>
          <p:txBody>
            <a:bodyPr/>
            <a:lstStyle/>
            <a:p>
              <a:endParaRPr lang="en-CA"/>
            </a:p>
          </p:txBody>
        </p:sp>
        <p:sp>
          <p:nvSpPr>
            <p:cNvPr id="7" name="TextBox 33">
              <a:extLst>
                <a:ext uri="{FF2B5EF4-FFF2-40B4-BE49-F238E27FC236}">
                  <a16:creationId xmlns:a16="http://schemas.microsoft.com/office/drawing/2014/main" id="{E187F1B5-B762-97A6-5DB8-861BD4BF776A}"/>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Tree>
    <p:extLst>
      <p:ext uri="{BB962C8B-B14F-4D97-AF65-F5344CB8AC3E}">
        <p14:creationId xmlns:p14="http://schemas.microsoft.com/office/powerpoint/2010/main" val="3315291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6E299-ECF1-08B1-7E53-4B7DA179750D}"/>
            </a:ext>
          </a:extLst>
        </p:cNvPr>
        <p:cNvGrpSpPr/>
        <p:nvPr/>
      </p:nvGrpSpPr>
      <p:grpSpPr>
        <a:xfrm>
          <a:off x="0" y="0"/>
          <a:ext cx="0" cy="0"/>
          <a:chOff x="0" y="0"/>
          <a:chExt cx="0" cy="0"/>
        </a:xfrm>
      </p:grpSpPr>
      <p:sp>
        <p:nvSpPr>
          <p:cNvPr id="16" name="TextBox 14">
            <a:extLst>
              <a:ext uri="{FF2B5EF4-FFF2-40B4-BE49-F238E27FC236}">
                <a16:creationId xmlns:a16="http://schemas.microsoft.com/office/drawing/2014/main" id="{C535327F-C9EF-BE87-459E-9BC731250210}"/>
              </a:ext>
            </a:extLst>
          </p:cNvPr>
          <p:cNvSpPr txBox="1"/>
          <p:nvPr/>
        </p:nvSpPr>
        <p:spPr>
          <a:xfrm>
            <a:off x="738364" y="955723"/>
            <a:ext cx="7470164" cy="770980"/>
          </a:xfrm>
          <a:prstGeom prst="rect">
            <a:avLst/>
          </a:prstGeom>
        </p:spPr>
        <p:txBody>
          <a:bodyPr wrap="square" lIns="0" tIns="0" rIns="0" bIns="0" rtlCol="0" anchor="t">
            <a:spAutoFit/>
          </a:bodyPr>
          <a:lstStyle/>
          <a:p>
            <a:pPr>
              <a:lnSpc>
                <a:spcPts val="5966"/>
              </a:lnSpc>
              <a:spcBef>
                <a:spcPct val="0"/>
              </a:spcBef>
              <a:defRPr/>
            </a:pPr>
            <a:r>
              <a:rPr kumimoji="0" lang="en-US" sz="5400" b="1" i="0" u="none" strike="noStrike" kern="1200" cap="none" spc="178" normalizeH="0" baseline="0" noProof="0" dirty="0">
                <a:ln>
                  <a:noFill/>
                </a:ln>
                <a:solidFill>
                  <a:schemeClr val="tx2">
                    <a:lumMod val="75000"/>
                  </a:schemeClr>
                </a:solidFill>
                <a:effectLst/>
                <a:uLnTx/>
                <a:uFillTx/>
                <a:latin typeface="Poppins" panose="00000500000000000000" pitchFamily="2" charset="0"/>
                <a:ea typeface="Open Sans Extra Bold" panose="020B0604020202020204" charset="0"/>
                <a:cs typeface="Poppins" panose="00000500000000000000" pitchFamily="2" charset="0"/>
                <a:sym typeface="Montserrat Classic Bold"/>
              </a:rPr>
              <a:t>Executive Summary</a:t>
            </a:r>
          </a:p>
        </p:txBody>
      </p:sp>
      <p:sp>
        <p:nvSpPr>
          <p:cNvPr id="10" name="Freeform 2">
            <a:extLst>
              <a:ext uri="{FF2B5EF4-FFF2-40B4-BE49-F238E27FC236}">
                <a16:creationId xmlns:a16="http://schemas.microsoft.com/office/drawing/2014/main" id="{62E3C597-FECC-392F-219B-75C3B8D940BD}"/>
              </a:ext>
            </a:extLst>
          </p:cNvPr>
          <p:cNvSpPr/>
          <p:nvPr/>
        </p:nvSpPr>
        <p:spPr>
          <a:xfrm rot="-10800000">
            <a:off x="10660689" y="5006479"/>
            <a:ext cx="7051104" cy="473147"/>
          </a:xfrm>
          <a:custGeom>
            <a:avLst/>
            <a:gdLst/>
            <a:ahLst/>
            <a:cxnLst/>
            <a:rect l="l" t="t" r="r" b="b"/>
            <a:pathLst>
              <a:path w="3988366" h="473147">
                <a:moveTo>
                  <a:pt x="0" y="0"/>
                </a:moveTo>
                <a:lnTo>
                  <a:pt x="3988366" y="0"/>
                </a:lnTo>
                <a:lnTo>
                  <a:pt x="3988366" y="473147"/>
                </a:lnTo>
                <a:lnTo>
                  <a:pt x="0" y="473147"/>
                </a:lnTo>
                <a:lnTo>
                  <a:pt x="0" y="0"/>
                </a:lnTo>
                <a:close/>
              </a:path>
            </a:pathLst>
          </a:custGeom>
          <a:blipFill>
            <a:blip r:embed="rId3">
              <a:alphaModFix amt="89000"/>
            </a:blip>
            <a:stretch>
              <a:fillRect b="-142346"/>
            </a:stretch>
          </a:blipFill>
        </p:spPr>
        <p:txBody>
          <a:bodyPr/>
          <a:lstStyle/>
          <a:p>
            <a:endParaRPr lang="en-CA" dirty="0">
              <a:cs typeface="Poppins" panose="00000500000000000000" pitchFamily="2" charset="0"/>
            </a:endParaRPr>
          </a:p>
        </p:txBody>
      </p:sp>
      <p:grpSp>
        <p:nvGrpSpPr>
          <p:cNvPr id="20" name="Group 34">
            <a:extLst>
              <a:ext uri="{FF2B5EF4-FFF2-40B4-BE49-F238E27FC236}">
                <a16:creationId xmlns:a16="http://schemas.microsoft.com/office/drawing/2014/main" id="{CA5FA389-7ADE-9CDC-DCAF-CFDA93FE3314}"/>
              </a:ext>
            </a:extLst>
          </p:cNvPr>
          <p:cNvGrpSpPr/>
          <p:nvPr/>
        </p:nvGrpSpPr>
        <p:grpSpPr>
          <a:xfrm>
            <a:off x="17126741" y="-3050508"/>
            <a:ext cx="3957167" cy="3957167"/>
            <a:chOff x="0" y="0"/>
            <a:chExt cx="812800" cy="812800"/>
          </a:xfrm>
        </p:grpSpPr>
        <p:sp>
          <p:nvSpPr>
            <p:cNvPr id="21" name="Freeform 35">
              <a:extLst>
                <a:ext uri="{FF2B5EF4-FFF2-40B4-BE49-F238E27FC236}">
                  <a16:creationId xmlns:a16="http://schemas.microsoft.com/office/drawing/2014/main" id="{65EEFDFD-7FD4-4602-7B14-145C569AA4A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8377C"/>
            </a:solidFill>
            <a:ln cap="sq">
              <a:noFill/>
              <a:prstDash val="solid"/>
              <a:miter/>
            </a:ln>
          </p:spPr>
          <p:txBody>
            <a:bodyPr/>
            <a:lstStyle/>
            <a:p>
              <a:endParaRPr lang="en-CA">
                <a:cs typeface="Poppins" panose="00000500000000000000" pitchFamily="2" charset="0"/>
              </a:endParaRPr>
            </a:p>
          </p:txBody>
        </p:sp>
        <p:sp>
          <p:nvSpPr>
            <p:cNvPr id="22" name="TextBox 36">
              <a:extLst>
                <a:ext uri="{FF2B5EF4-FFF2-40B4-BE49-F238E27FC236}">
                  <a16:creationId xmlns:a16="http://schemas.microsoft.com/office/drawing/2014/main" id="{B85DF00E-2C76-A0B0-AA8D-F4F596252D50}"/>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3079"/>
                </a:lnSpc>
                <a:spcBef>
                  <a:spcPct val="0"/>
                </a:spcBef>
              </a:pPr>
              <a:endParaRPr>
                <a:cs typeface="Poppins" panose="00000500000000000000" pitchFamily="2" charset="0"/>
              </a:endParaRPr>
            </a:p>
          </p:txBody>
        </p:sp>
      </p:grpSp>
      <p:grpSp>
        <p:nvGrpSpPr>
          <p:cNvPr id="23" name="Group 47">
            <a:extLst>
              <a:ext uri="{FF2B5EF4-FFF2-40B4-BE49-F238E27FC236}">
                <a16:creationId xmlns:a16="http://schemas.microsoft.com/office/drawing/2014/main" id="{DB10FBB7-F97E-EF90-881C-02781D2107F7}"/>
              </a:ext>
            </a:extLst>
          </p:cNvPr>
          <p:cNvGrpSpPr/>
          <p:nvPr/>
        </p:nvGrpSpPr>
        <p:grpSpPr>
          <a:xfrm>
            <a:off x="-381000" y="-584114"/>
            <a:ext cx="1490773" cy="1490773"/>
            <a:chOff x="0" y="0"/>
            <a:chExt cx="812800" cy="812800"/>
          </a:xfrm>
        </p:grpSpPr>
        <p:sp>
          <p:nvSpPr>
            <p:cNvPr id="24" name="Freeform 48">
              <a:extLst>
                <a:ext uri="{FF2B5EF4-FFF2-40B4-BE49-F238E27FC236}">
                  <a16:creationId xmlns:a16="http://schemas.microsoft.com/office/drawing/2014/main" id="{D3C74E51-BCE7-CF6E-0E7B-81B8E27DA64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8377C"/>
            </a:solidFill>
            <a:ln cap="sq">
              <a:noFill/>
              <a:prstDash val="solid"/>
              <a:miter/>
            </a:ln>
          </p:spPr>
          <p:txBody>
            <a:bodyPr/>
            <a:lstStyle/>
            <a:p>
              <a:endParaRPr lang="en-CA">
                <a:cs typeface="Poppins" panose="00000500000000000000" pitchFamily="2" charset="0"/>
              </a:endParaRPr>
            </a:p>
          </p:txBody>
        </p:sp>
        <p:sp>
          <p:nvSpPr>
            <p:cNvPr id="25" name="TextBox 49">
              <a:extLst>
                <a:ext uri="{FF2B5EF4-FFF2-40B4-BE49-F238E27FC236}">
                  <a16:creationId xmlns:a16="http://schemas.microsoft.com/office/drawing/2014/main" id="{F9EDA17E-B991-C804-7116-14D434BCD18D}"/>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3079"/>
                </a:lnSpc>
                <a:spcBef>
                  <a:spcPct val="0"/>
                </a:spcBef>
              </a:pPr>
              <a:endParaRPr>
                <a:cs typeface="Poppins" panose="00000500000000000000" pitchFamily="2" charset="0"/>
              </a:endParaRPr>
            </a:p>
          </p:txBody>
        </p:sp>
      </p:grpSp>
      <p:sp>
        <p:nvSpPr>
          <p:cNvPr id="31" name="TextBox 19">
            <a:extLst>
              <a:ext uri="{FF2B5EF4-FFF2-40B4-BE49-F238E27FC236}">
                <a16:creationId xmlns:a16="http://schemas.microsoft.com/office/drawing/2014/main" id="{4F4CDA2E-75E6-DA7D-9F0F-3766BC31CED2}"/>
              </a:ext>
            </a:extLst>
          </p:cNvPr>
          <p:cNvSpPr txBox="1"/>
          <p:nvPr/>
        </p:nvSpPr>
        <p:spPr>
          <a:xfrm>
            <a:off x="10154318" y="771997"/>
            <a:ext cx="7903931" cy="4256836"/>
          </a:xfrm>
          <a:prstGeom prst="rect">
            <a:avLst/>
          </a:prstGeom>
          <a:solidFill>
            <a:srgbClr val="0A2D7A"/>
          </a:solidFill>
        </p:spPr>
        <p:txBody>
          <a:bodyPr lIns="50800" tIns="50800" rIns="50800" bIns="50800" rtlCol="0" anchor="ctr"/>
          <a:lstStyle/>
          <a:p>
            <a:pPr algn="ctr">
              <a:lnSpc>
                <a:spcPts val="2659"/>
              </a:lnSpc>
            </a:pPr>
            <a:endParaRPr>
              <a:cs typeface="Poppins" panose="00000500000000000000" pitchFamily="2" charset="0"/>
            </a:endParaRPr>
          </a:p>
        </p:txBody>
      </p:sp>
      <p:sp>
        <p:nvSpPr>
          <p:cNvPr id="32" name="TextBox 31">
            <a:extLst>
              <a:ext uri="{FF2B5EF4-FFF2-40B4-BE49-F238E27FC236}">
                <a16:creationId xmlns:a16="http://schemas.microsoft.com/office/drawing/2014/main" id="{75D7E455-A801-D26E-F78B-B6DC64FC7739}"/>
              </a:ext>
            </a:extLst>
          </p:cNvPr>
          <p:cNvSpPr txBox="1"/>
          <p:nvPr/>
        </p:nvSpPr>
        <p:spPr>
          <a:xfrm>
            <a:off x="10675929" y="1077096"/>
            <a:ext cx="2981371" cy="430887"/>
          </a:xfrm>
          <a:prstGeom prst="rect">
            <a:avLst/>
          </a:prstGeom>
          <a:noFill/>
        </p:spPr>
        <p:txBody>
          <a:bodyPr wrap="square" rtlCol="0">
            <a:spAutoFit/>
          </a:bodyPr>
          <a:lstStyle/>
          <a:p>
            <a:pPr algn="ctr"/>
            <a:r>
              <a:rPr lang="en-CA" sz="2200" b="1" dirty="0">
                <a:solidFill>
                  <a:schemeClr val="bg1"/>
                </a:solidFill>
                <a:cs typeface="Poppins" panose="00000500000000000000" pitchFamily="2" charset="0"/>
              </a:rPr>
              <a:t>Business Impacts</a:t>
            </a:r>
          </a:p>
        </p:txBody>
      </p:sp>
      <p:sp>
        <p:nvSpPr>
          <p:cNvPr id="37" name="AutoShape 20">
            <a:extLst>
              <a:ext uri="{FF2B5EF4-FFF2-40B4-BE49-F238E27FC236}">
                <a16:creationId xmlns:a16="http://schemas.microsoft.com/office/drawing/2014/main" id="{7BE7FA33-07E6-126D-930D-17CB0F0B5E7F}"/>
              </a:ext>
            </a:extLst>
          </p:cNvPr>
          <p:cNvSpPr/>
          <p:nvPr/>
        </p:nvSpPr>
        <p:spPr>
          <a:xfrm flipV="1">
            <a:off x="14327444" y="1341213"/>
            <a:ext cx="0" cy="2971801"/>
          </a:xfrm>
          <a:prstGeom prst="line">
            <a:avLst/>
          </a:prstGeom>
          <a:ln w="38100" cap="flat">
            <a:solidFill>
              <a:srgbClr val="FFFFFF"/>
            </a:solidFill>
            <a:prstDash val="solid"/>
            <a:headEnd type="none" w="sm" len="sm"/>
            <a:tailEnd type="none" w="sm" len="sm"/>
          </a:ln>
        </p:spPr>
        <p:txBody>
          <a:bodyPr/>
          <a:lstStyle/>
          <a:p>
            <a:endParaRPr lang="en-CA" dirty="0">
              <a:cs typeface="Poppins" panose="00000500000000000000" pitchFamily="2" charset="0"/>
            </a:endParaRPr>
          </a:p>
        </p:txBody>
      </p:sp>
      <p:sp>
        <p:nvSpPr>
          <p:cNvPr id="40" name="TextBox 23">
            <a:extLst>
              <a:ext uri="{FF2B5EF4-FFF2-40B4-BE49-F238E27FC236}">
                <a16:creationId xmlns:a16="http://schemas.microsoft.com/office/drawing/2014/main" id="{A3D9E9B8-733E-05C7-0A37-E7B0C89062FB}"/>
              </a:ext>
            </a:extLst>
          </p:cNvPr>
          <p:cNvSpPr txBox="1"/>
          <p:nvPr/>
        </p:nvSpPr>
        <p:spPr>
          <a:xfrm>
            <a:off x="10593163" y="1813082"/>
            <a:ext cx="3719041" cy="2462213"/>
          </a:xfrm>
          <a:prstGeom prst="rect">
            <a:avLst/>
          </a:prstGeom>
        </p:spPr>
        <p:txBody>
          <a:bodyPr wrap="square" lIns="0" tIns="0" rIns="0" bIns="0" rtlCol="0" anchor="t">
            <a:spAutoFit/>
          </a:bodyPr>
          <a:lstStyle/>
          <a:p>
            <a:pPr marL="285750" indent="-285750">
              <a:buFont typeface="Arial" panose="020B0604020202020204" pitchFamily="34" charset="0"/>
              <a:buChar char="•"/>
            </a:pPr>
            <a:r>
              <a:rPr lang="en-US" sz="2000" dirty="0">
                <a:solidFill>
                  <a:schemeClr val="bg1"/>
                </a:solidFill>
                <a:cs typeface="Poppins" panose="00000500000000000000" pitchFamily="2" charset="0"/>
              </a:rPr>
              <a:t>Revenue growth in 2020 driven by volume surge.</a:t>
            </a:r>
          </a:p>
          <a:p>
            <a:pPr marL="285750" indent="-285750">
              <a:buFont typeface="Arial" panose="020B0604020202020204" pitchFamily="34" charset="0"/>
              <a:buChar char="•"/>
            </a:pPr>
            <a:endParaRPr lang="en-US" sz="2000" dirty="0">
              <a:solidFill>
                <a:schemeClr val="bg1"/>
              </a:solidFill>
              <a:cs typeface="Poppins" panose="00000500000000000000" pitchFamily="2" charset="0"/>
            </a:endParaRPr>
          </a:p>
          <a:p>
            <a:pPr marL="285750" indent="-285750">
              <a:buFont typeface="Arial" panose="020B0604020202020204" pitchFamily="34" charset="0"/>
              <a:buChar char="•"/>
            </a:pPr>
            <a:r>
              <a:rPr lang="en-US" sz="2000" dirty="0">
                <a:solidFill>
                  <a:schemeClr val="bg1"/>
                </a:solidFill>
                <a:cs typeface="Poppins" panose="00000500000000000000" pitchFamily="2" charset="0"/>
              </a:rPr>
              <a:t>Operational challenges due to unprecedented demand.</a:t>
            </a:r>
          </a:p>
          <a:p>
            <a:endParaRPr lang="en-US" sz="2000" dirty="0">
              <a:solidFill>
                <a:schemeClr val="bg1"/>
              </a:solidFill>
              <a:cs typeface="Poppins" panose="00000500000000000000" pitchFamily="2" charset="0"/>
            </a:endParaRPr>
          </a:p>
          <a:p>
            <a:pPr marL="285750" indent="-285750">
              <a:buFont typeface="Arial" panose="020B0604020202020204" pitchFamily="34" charset="0"/>
              <a:buChar char="•"/>
            </a:pPr>
            <a:r>
              <a:rPr lang="en-US" sz="2000" dirty="0">
                <a:solidFill>
                  <a:schemeClr val="bg1"/>
                </a:solidFill>
                <a:cs typeface="Poppins" panose="00000500000000000000" pitchFamily="2" charset="0"/>
              </a:rPr>
              <a:t>COVID-19 amplified disparities across customer groups.</a:t>
            </a:r>
            <a:endParaRPr lang="en-CA" sz="2000" dirty="0">
              <a:solidFill>
                <a:schemeClr val="bg1"/>
              </a:solidFill>
              <a:cs typeface="Poppins" panose="00000500000000000000" pitchFamily="2" charset="0"/>
            </a:endParaRPr>
          </a:p>
        </p:txBody>
      </p:sp>
      <p:sp>
        <p:nvSpPr>
          <p:cNvPr id="41" name="TextBox 21">
            <a:extLst>
              <a:ext uri="{FF2B5EF4-FFF2-40B4-BE49-F238E27FC236}">
                <a16:creationId xmlns:a16="http://schemas.microsoft.com/office/drawing/2014/main" id="{537ABB9F-5754-AD86-C620-E2EEEC9DBFE1}"/>
              </a:ext>
            </a:extLst>
          </p:cNvPr>
          <p:cNvSpPr txBox="1"/>
          <p:nvPr/>
        </p:nvSpPr>
        <p:spPr>
          <a:xfrm>
            <a:off x="14693824" y="1765626"/>
            <a:ext cx="3400806" cy="1702774"/>
          </a:xfrm>
          <a:prstGeom prst="rect">
            <a:avLst/>
          </a:prstGeom>
        </p:spPr>
        <p:txBody>
          <a:bodyPr wrap="square" lIns="0" tIns="0" rIns="0" bIns="0" rtlCol="0" anchor="t">
            <a:spAutoFit/>
          </a:bodyPr>
          <a:lstStyle/>
          <a:p>
            <a:pPr marL="285750" lvl="0" indent="-285750" algn="l">
              <a:lnSpc>
                <a:spcPts val="3358"/>
              </a:lnSpc>
              <a:spcBef>
                <a:spcPct val="0"/>
              </a:spcBef>
              <a:buFont typeface="Arial" panose="020B0604020202020204" pitchFamily="34" charset="0"/>
              <a:buChar char="•"/>
            </a:pPr>
            <a:r>
              <a:rPr lang="en-US" sz="2000" u="none" strike="noStrike" spc="107" dirty="0">
                <a:solidFill>
                  <a:srgbClr val="FFFFFF"/>
                </a:solidFill>
                <a:ea typeface="Montserrat"/>
                <a:cs typeface="Poppins" panose="00000500000000000000" pitchFamily="2" charset="0"/>
                <a:sym typeface="Montserrat"/>
              </a:rPr>
              <a:t>Scale for demand peaks.</a:t>
            </a:r>
          </a:p>
          <a:p>
            <a:pPr marL="285750" lvl="0" indent="-285750" algn="l">
              <a:lnSpc>
                <a:spcPts val="3358"/>
              </a:lnSpc>
              <a:spcBef>
                <a:spcPct val="0"/>
              </a:spcBef>
              <a:buFont typeface="Arial" panose="020B0604020202020204" pitchFamily="34" charset="0"/>
              <a:buChar char="•"/>
            </a:pPr>
            <a:r>
              <a:rPr lang="en-US" sz="2000" u="none" strike="noStrike" spc="107" dirty="0">
                <a:solidFill>
                  <a:srgbClr val="FFFFFF"/>
                </a:solidFill>
                <a:ea typeface="Montserrat"/>
                <a:cs typeface="Poppins" panose="00000500000000000000" pitchFamily="2" charset="0"/>
                <a:sym typeface="Montserrat"/>
              </a:rPr>
              <a:t>Re-engage lost customers.</a:t>
            </a:r>
          </a:p>
          <a:p>
            <a:pPr marL="285750" lvl="0" indent="-285750" algn="l">
              <a:lnSpc>
                <a:spcPts val="3358"/>
              </a:lnSpc>
              <a:spcBef>
                <a:spcPct val="0"/>
              </a:spcBef>
              <a:buFont typeface="Arial" panose="020B0604020202020204" pitchFamily="34" charset="0"/>
              <a:buChar char="•"/>
            </a:pPr>
            <a:r>
              <a:rPr lang="en-US" sz="2000" u="none" strike="noStrike" spc="107" dirty="0">
                <a:solidFill>
                  <a:srgbClr val="FFFFFF"/>
                </a:solidFill>
                <a:ea typeface="Montserrat"/>
                <a:cs typeface="Poppins" panose="00000500000000000000" pitchFamily="2" charset="0"/>
                <a:sym typeface="Montserrat"/>
              </a:rPr>
              <a:t>Focus on growth segments.</a:t>
            </a:r>
          </a:p>
        </p:txBody>
      </p:sp>
      <p:sp>
        <p:nvSpPr>
          <p:cNvPr id="42" name="TextBox 22">
            <a:extLst>
              <a:ext uri="{FF2B5EF4-FFF2-40B4-BE49-F238E27FC236}">
                <a16:creationId xmlns:a16="http://schemas.microsoft.com/office/drawing/2014/main" id="{563F6B37-B60A-D782-6BBF-5A8AA25407C3}"/>
              </a:ext>
            </a:extLst>
          </p:cNvPr>
          <p:cNvSpPr txBox="1"/>
          <p:nvPr/>
        </p:nvSpPr>
        <p:spPr>
          <a:xfrm>
            <a:off x="15060557" y="906659"/>
            <a:ext cx="2800349" cy="588751"/>
          </a:xfrm>
          <a:prstGeom prst="rect">
            <a:avLst/>
          </a:prstGeom>
        </p:spPr>
        <p:txBody>
          <a:bodyPr wrap="square" lIns="0" tIns="0" rIns="0" bIns="0" rtlCol="0" anchor="t">
            <a:spAutoFit/>
          </a:bodyPr>
          <a:lstStyle/>
          <a:p>
            <a:pPr marL="0" lvl="0" indent="0" algn="l">
              <a:lnSpc>
                <a:spcPts val="5284"/>
              </a:lnSpc>
              <a:spcBef>
                <a:spcPct val="0"/>
              </a:spcBef>
            </a:pPr>
            <a:r>
              <a:rPr lang="en-CA" sz="2200" b="1" dirty="0">
                <a:solidFill>
                  <a:schemeClr val="bg1"/>
                </a:solidFill>
                <a:cs typeface="Poppins" panose="00000500000000000000" pitchFamily="2" charset="0"/>
              </a:rPr>
              <a:t>Recommendations</a:t>
            </a:r>
            <a:endParaRPr lang="en-US" sz="2200" b="1" u="none" strike="noStrike" spc="158" dirty="0">
              <a:solidFill>
                <a:schemeClr val="bg1"/>
              </a:solidFill>
              <a:ea typeface="Montserrat Classic Bold"/>
              <a:cs typeface="Poppins" panose="00000500000000000000" pitchFamily="2" charset="0"/>
              <a:sym typeface="Montserrat Classic Bold"/>
            </a:endParaRPr>
          </a:p>
        </p:txBody>
      </p:sp>
      <p:pic>
        <p:nvPicPr>
          <p:cNvPr id="8" name="Picture 7" descr="A graph of a number of columns&#10;&#10;Description automatically generated">
            <a:extLst>
              <a:ext uri="{FF2B5EF4-FFF2-40B4-BE49-F238E27FC236}">
                <a16:creationId xmlns:a16="http://schemas.microsoft.com/office/drawing/2014/main" id="{C2FEA397-580C-21C4-3F1F-A5E6C1D676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56454" y="5141141"/>
            <a:ext cx="8100288" cy="5342126"/>
          </a:xfrm>
          <a:prstGeom prst="rect">
            <a:avLst/>
          </a:prstGeom>
        </p:spPr>
      </p:pic>
      <p:sp>
        <p:nvSpPr>
          <p:cNvPr id="11" name="Slide Number Placeholder 10">
            <a:extLst>
              <a:ext uri="{FF2B5EF4-FFF2-40B4-BE49-F238E27FC236}">
                <a16:creationId xmlns:a16="http://schemas.microsoft.com/office/drawing/2014/main" id="{C82B085F-986F-E5F6-132D-A73CF829E856}"/>
              </a:ext>
            </a:extLst>
          </p:cNvPr>
          <p:cNvSpPr>
            <a:spLocks noGrp="1"/>
          </p:cNvSpPr>
          <p:nvPr>
            <p:ph type="sldNum" sz="quarter" idx="12"/>
          </p:nvPr>
        </p:nvSpPr>
        <p:spPr>
          <a:xfrm>
            <a:off x="7010401" y="9892928"/>
            <a:ext cx="2133600" cy="365125"/>
          </a:xfrm>
        </p:spPr>
        <p:txBody>
          <a:bodyPr/>
          <a:lstStyle/>
          <a:p>
            <a:pPr algn="ctr"/>
            <a:fld id="{B6F15528-21DE-4FAA-801E-634DDDAF4B2B}" type="slidenum">
              <a:rPr lang="en-US" sz="2000" b="1" smtClean="0">
                <a:solidFill>
                  <a:schemeClr val="tx2"/>
                </a:solidFill>
              </a:rPr>
              <a:pPr algn="ctr"/>
              <a:t>3</a:t>
            </a:fld>
            <a:endParaRPr lang="en-US" sz="2000" b="1" dirty="0">
              <a:solidFill>
                <a:schemeClr val="tx2"/>
              </a:solidFill>
            </a:endParaRPr>
          </a:p>
        </p:txBody>
      </p:sp>
      <p:sp>
        <p:nvSpPr>
          <p:cNvPr id="17" name="Rectangle 16">
            <a:extLst>
              <a:ext uri="{FF2B5EF4-FFF2-40B4-BE49-F238E27FC236}">
                <a16:creationId xmlns:a16="http://schemas.microsoft.com/office/drawing/2014/main" id="{65755EA3-BF99-3EAA-9DF0-57AB91DC0811}"/>
              </a:ext>
            </a:extLst>
          </p:cNvPr>
          <p:cNvSpPr/>
          <p:nvPr/>
        </p:nvSpPr>
        <p:spPr>
          <a:xfrm>
            <a:off x="364385" y="4602877"/>
            <a:ext cx="3981475" cy="2183729"/>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b="1" dirty="0">
              <a:solidFill>
                <a:srgbClr val="000B5D"/>
              </a:solidFill>
            </a:endParaRPr>
          </a:p>
        </p:txBody>
      </p:sp>
      <p:sp>
        <p:nvSpPr>
          <p:cNvPr id="19" name="Rectangle 18">
            <a:extLst>
              <a:ext uri="{FF2B5EF4-FFF2-40B4-BE49-F238E27FC236}">
                <a16:creationId xmlns:a16="http://schemas.microsoft.com/office/drawing/2014/main" id="{7ED61285-B9F1-F43D-7B2C-2C0370C7AF41}"/>
              </a:ext>
            </a:extLst>
          </p:cNvPr>
          <p:cNvSpPr/>
          <p:nvPr/>
        </p:nvSpPr>
        <p:spPr>
          <a:xfrm>
            <a:off x="4514658" y="4585484"/>
            <a:ext cx="3981475" cy="2183729"/>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b="1" dirty="0">
              <a:solidFill>
                <a:srgbClr val="00B050"/>
              </a:solidFill>
              <a:ea typeface="ADLaM Display" panose="02010000000000000000" pitchFamily="2" charset="0"/>
              <a:cs typeface="Poppins" panose="00000500000000000000" pitchFamily="2" charset="0"/>
            </a:endParaRPr>
          </a:p>
        </p:txBody>
      </p:sp>
      <p:sp>
        <p:nvSpPr>
          <p:cNvPr id="26" name="TextBox 25">
            <a:extLst>
              <a:ext uri="{FF2B5EF4-FFF2-40B4-BE49-F238E27FC236}">
                <a16:creationId xmlns:a16="http://schemas.microsoft.com/office/drawing/2014/main" id="{7D3F80A0-A5C4-E1DE-BE66-6334B5BF9CA5}"/>
              </a:ext>
            </a:extLst>
          </p:cNvPr>
          <p:cNvSpPr txBox="1"/>
          <p:nvPr/>
        </p:nvSpPr>
        <p:spPr>
          <a:xfrm>
            <a:off x="4808993" y="4998028"/>
            <a:ext cx="3355364" cy="1538883"/>
          </a:xfrm>
          <a:prstGeom prst="rect">
            <a:avLst/>
          </a:prstGeom>
          <a:noFill/>
        </p:spPr>
        <p:txBody>
          <a:bodyPr wrap="square" rtlCol="0">
            <a:spAutoFit/>
          </a:bodyPr>
          <a:lstStyle/>
          <a:p>
            <a:pPr algn="ctr"/>
            <a:r>
              <a:rPr lang="en-US" sz="1800" b="1" dirty="0">
                <a:solidFill>
                  <a:srgbClr val="000B5D"/>
                </a:solidFill>
                <a:cs typeface="Poppins" panose="00000500000000000000" pitchFamily="2" charset="0"/>
              </a:rPr>
              <a:t>Total parcel volumes increased in 2020 (73.4M) vs. 2019 (52.8M)</a:t>
            </a:r>
            <a:endParaRPr lang="en-CA" sz="1800" b="1" dirty="0">
              <a:solidFill>
                <a:srgbClr val="000B5D"/>
              </a:solidFill>
              <a:cs typeface="Poppins" panose="00000500000000000000" pitchFamily="2" charset="0"/>
            </a:endParaRPr>
          </a:p>
          <a:p>
            <a:pPr algn="ctr"/>
            <a:r>
              <a:rPr lang="en-US" sz="4000" b="1" dirty="0">
                <a:solidFill>
                  <a:srgbClr val="00B050"/>
                </a:solidFill>
                <a:latin typeface="Poppins" panose="00000500000000000000" pitchFamily="2" charset="0"/>
                <a:ea typeface="ADLaM Display" panose="02010000000000000000" pitchFamily="2" charset="0"/>
                <a:cs typeface="Poppins" panose="00000500000000000000" pitchFamily="2" charset="0"/>
              </a:rPr>
              <a:t>39.1% </a:t>
            </a:r>
          </a:p>
          <a:p>
            <a:endParaRPr lang="en-CA" dirty="0"/>
          </a:p>
        </p:txBody>
      </p:sp>
      <p:sp>
        <p:nvSpPr>
          <p:cNvPr id="27" name="TextBox 26">
            <a:extLst>
              <a:ext uri="{FF2B5EF4-FFF2-40B4-BE49-F238E27FC236}">
                <a16:creationId xmlns:a16="http://schemas.microsoft.com/office/drawing/2014/main" id="{4FA8D630-728C-E277-4B84-84CD1864EC7C}"/>
              </a:ext>
            </a:extLst>
          </p:cNvPr>
          <p:cNvSpPr txBox="1"/>
          <p:nvPr/>
        </p:nvSpPr>
        <p:spPr>
          <a:xfrm>
            <a:off x="821686" y="5012857"/>
            <a:ext cx="3207011" cy="1938992"/>
          </a:xfrm>
          <a:prstGeom prst="rect">
            <a:avLst/>
          </a:prstGeom>
          <a:noFill/>
        </p:spPr>
        <p:txBody>
          <a:bodyPr wrap="square" rtlCol="0">
            <a:spAutoFit/>
          </a:bodyPr>
          <a:lstStyle/>
          <a:p>
            <a:pPr algn="ctr"/>
            <a:r>
              <a:rPr lang="en-US" sz="1600" b="1" dirty="0">
                <a:solidFill>
                  <a:srgbClr val="000B5D"/>
                </a:solidFill>
                <a:cs typeface="Poppins" panose="00000500000000000000" pitchFamily="2" charset="0"/>
              </a:rPr>
              <a:t>High-Growth Customers in 2020 </a:t>
            </a:r>
          </a:p>
          <a:p>
            <a:pPr algn="ctr"/>
            <a:endParaRPr lang="en-US" sz="1600" b="1" dirty="0">
              <a:solidFill>
                <a:srgbClr val="000B5D"/>
              </a:solidFill>
              <a:latin typeface="Poppins" panose="00000500000000000000" pitchFamily="2" charset="0"/>
              <a:ea typeface="ADLaM Display" panose="02010000000000000000" pitchFamily="2" charset="0"/>
              <a:cs typeface="Poppins" panose="00000500000000000000" pitchFamily="2" charset="0"/>
            </a:endParaRPr>
          </a:p>
          <a:p>
            <a:pPr algn="ctr"/>
            <a:r>
              <a:rPr lang="en-CA" sz="4000" b="1" dirty="0">
                <a:solidFill>
                  <a:srgbClr val="00B050"/>
                </a:solidFill>
                <a:latin typeface="Poppins" panose="00000500000000000000" pitchFamily="2" charset="0"/>
                <a:ea typeface="ADLaM Display" panose="02010000000000000000" pitchFamily="2" charset="0"/>
                <a:cs typeface="Poppins" panose="00000500000000000000" pitchFamily="2" charset="0"/>
              </a:rPr>
              <a:t>50.52%</a:t>
            </a:r>
          </a:p>
          <a:p>
            <a:pPr algn="ctr"/>
            <a:br>
              <a:rPr lang="en-CA" sz="1600" b="1" dirty="0">
                <a:solidFill>
                  <a:schemeClr val="tx2">
                    <a:lumMod val="75000"/>
                  </a:schemeClr>
                </a:solidFill>
                <a:latin typeface="Poppins" panose="00000500000000000000" pitchFamily="2" charset="0"/>
                <a:cs typeface="Poppins" panose="00000500000000000000" pitchFamily="2" charset="0"/>
              </a:rPr>
            </a:br>
            <a:br>
              <a:rPr lang="en-CA" sz="1600" b="1" dirty="0">
                <a:solidFill>
                  <a:schemeClr val="tx2">
                    <a:lumMod val="75000"/>
                  </a:schemeClr>
                </a:solidFill>
                <a:latin typeface="Poppins" panose="00000500000000000000" pitchFamily="2" charset="0"/>
                <a:cs typeface="Poppins" panose="00000500000000000000" pitchFamily="2" charset="0"/>
              </a:rPr>
            </a:br>
            <a:r>
              <a:rPr lang="en-CA" sz="1600" b="1" dirty="0">
                <a:solidFill>
                  <a:schemeClr val="tx2">
                    <a:lumMod val="75000"/>
                  </a:schemeClr>
                </a:solidFill>
                <a:latin typeface="Poppins" panose="00000500000000000000" pitchFamily="2" charset="0"/>
                <a:cs typeface="Poppins" panose="00000500000000000000" pitchFamily="2" charset="0"/>
              </a:rPr>
              <a:t> </a:t>
            </a:r>
          </a:p>
        </p:txBody>
      </p:sp>
      <p:sp>
        <p:nvSpPr>
          <p:cNvPr id="28" name="Rectangle 27">
            <a:extLst>
              <a:ext uri="{FF2B5EF4-FFF2-40B4-BE49-F238E27FC236}">
                <a16:creationId xmlns:a16="http://schemas.microsoft.com/office/drawing/2014/main" id="{87EEC701-1932-4124-1B8F-98E9AEC7D86D}"/>
              </a:ext>
            </a:extLst>
          </p:cNvPr>
          <p:cNvSpPr/>
          <p:nvPr/>
        </p:nvSpPr>
        <p:spPr>
          <a:xfrm>
            <a:off x="364386" y="6935735"/>
            <a:ext cx="3981475" cy="2183729"/>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b="1" dirty="0">
              <a:solidFill>
                <a:srgbClr val="00B050"/>
              </a:solidFill>
              <a:ea typeface="ADLaM Display" panose="02010000000000000000" pitchFamily="2" charset="0"/>
              <a:cs typeface="Poppins" panose="00000500000000000000" pitchFamily="2" charset="0"/>
            </a:endParaRPr>
          </a:p>
        </p:txBody>
      </p:sp>
      <p:sp>
        <p:nvSpPr>
          <p:cNvPr id="30" name="TextBox 29">
            <a:extLst>
              <a:ext uri="{FF2B5EF4-FFF2-40B4-BE49-F238E27FC236}">
                <a16:creationId xmlns:a16="http://schemas.microsoft.com/office/drawing/2014/main" id="{DC2A9685-237F-1763-C4CE-262902A77B0D}"/>
              </a:ext>
            </a:extLst>
          </p:cNvPr>
          <p:cNvSpPr txBox="1"/>
          <p:nvPr/>
        </p:nvSpPr>
        <p:spPr>
          <a:xfrm>
            <a:off x="768844" y="7250096"/>
            <a:ext cx="3119083" cy="1538883"/>
          </a:xfrm>
          <a:prstGeom prst="rect">
            <a:avLst/>
          </a:prstGeom>
          <a:noFill/>
        </p:spPr>
        <p:txBody>
          <a:bodyPr wrap="square" rtlCol="0">
            <a:spAutoFit/>
          </a:bodyPr>
          <a:lstStyle/>
          <a:p>
            <a:pPr algn="ctr"/>
            <a:r>
              <a:rPr lang="en-CA" b="1" dirty="0">
                <a:solidFill>
                  <a:srgbClr val="000B5D"/>
                </a:solidFill>
              </a:rPr>
              <a:t>Total Revenue in 2020</a:t>
            </a:r>
          </a:p>
          <a:p>
            <a:pPr algn="ctr"/>
            <a:endParaRPr lang="en-CA" b="1" dirty="0">
              <a:solidFill>
                <a:srgbClr val="000B5D"/>
              </a:solidFill>
            </a:endParaRPr>
          </a:p>
          <a:p>
            <a:pPr algn="ctr"/>
            <a:r>
              <a:rPr lang="en-CA" sz="4000" b="1" dirty="0">
                <a:solidFill>
                  <a:srgbClr val="00B050"/>
                </a:solidFill>
                <a:latin typeface="Poppins" panose="00000500000000000000" pitchFamily="2" charset="0"/>
                <a:cs typeface="Poppins" panose="00000500000000000000" pitchFamily="2" charset="0"/>
              </a:rPr>
              <a:t>$1,402.19M</a:t>
            </a:r>
          </a:p>
          <a:p>
            <a:pPr algn="ctr"/>
            <a:endParaRPr lang="en-CA" dirty="0"/>
          </a:p>
        </p:txBody>
      </p:sp>
      <p:sp>
        <p:nvSpPr>
          <p:cNvPr id="33" name="Rectangle 32">
            <a:extLst>
              <a:ext uri="{FF2B5EF4-FFF2-40B4-BE49-F238E27FC236}">
                <a16:creationId xmlns:a16="http://schemas.microsoft.com/office/drawing/2014/main" id="{722EDD69-30D9-6F05-6B0D-BC2BA0A3DC90}"/>
              </a:ext>
            </a:extLst>
          </p:cNvPr>
          <p:cNvSpPr/>
          <p:nvPr/>
        </p:nvSpPr>
        <p:spPr>
          <a:xfrm>
            <a:off x="4530815" y="6927674"/>
            <a:ext cx="3981475" cy="2183729"/>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b="1" dirty="0">
              <a:solidFill>
                <a:srgbClr val="00B050"/>
              </a:solidFill>
              <a:ea typeface="ADLaM Display" panose="02010000000000000000" pitchFamily="2" charset="0"/>
              <a:cs typeface="Poppins" panose="00000500000000000000" pitchFamily="2" charset="0"/>
            </a:endParaRPr>
          </a:p>
        </p:txBody>
      </p:sp>
      <p:sp>
        <p:nvSpPr>
          <p:cNvPr id="35" name="TextBox 34">
            <a:extLst>
              <a:ext uri="{FF2B5EF4-FFF2-40B4-BE49-F238E27FC236}">
                <a16:creationId xmlns:a16="http://schemas.microsoft.com/office/drawing/2014/main" id="{03B6E6DF-81D7-2FEC-B7AE-D4352922F26B}"/>
              </a:ext>
            </a:extLst>
          </p:cNvPr>
          <p:cNvSpPr txBox="1"/>
          <p:nvPr/>
        </p:nvSpPr>
        <p:spPr>
          <a:xfrm>
            <a:off x="4808993" y="7527094"/>
            <a:ext cx="3585002" cy="984885"/>
          </a:xfrm>
          <a:prstGeom prst="rect">
            <a:avLst/>
          </a:prstGeom>
          <a:noFill/>
        </p:spPr>
        <p:txBody>
          <a:bodyPr wrap="square" rtlCol="0">
            <a:spAutoFit/>
          </a:bodyPr>
          <a:lstStyle/>
          <a:p>
            <a:r>
              <a:rPr lang="en-US" altLang="en-US" b="1" dirty="0">
                <a:solidFill>
                  <a:srgbClr val="0A2D7A"/>
                </a:solidFill>
              </a:rPr>
              <a:t>G</a:t>
            </a:r>
            <a:r>
              <a:rPr kumimoji="0" lang="en-US" altLang="en-US" sz="1800" b="1" i="0" u="none" strike="noStrike" cap="none" normalizeH="0" baseline="0" dirty="0">
                <a:ln>
                  <a:noFill/>
                </a:ln>
                <a:solidFill>
                  <a:srgbClr val="0A2D7A"/>
                </a:solidFill>
                <a:effectLst/>
              </a:rPr>
              <a:t>rowth Distribution for Enterprise</a:t>
            </a:r>
            <a:endParaRPr lang="en-US" sz="1800" b="1" dirty="0">
              <a:solidFill>
                <a:srgbClr val="0A2D7A"/>
              </a:solidFill>
              <a:ea typeface="ADLaM Display" panose="02010000000000000000" pitchFamily="2" charset="0"/>
              <a:cs typeface="Poppins" panose="00000500000000000000" pitchFamily="2" charset="0"/>
            </a:endParaRPr>
          </a:p>
          <a:p>
            <a:pPr algn="ctr"/>
            <a:r>
              <a:rPr kumimoji="0" lang="en-US" altLang="en-US" sz="4000" b="1" i="0" u="none" strike="noStrike" cap="none" normalizeH="0" baseline="0" dirty="0">
                <a:ln>
                  <a:noFill/>
                </a:ln>
                <a:solidFill>
                  <a:srgbClr val="00B050"/>
                </a:solidFill>
                <a:effectLst/>
                <a:latin typeface="Poppins" panose="00000500000000000000" pitchFamily="2" charset="0"/>
                <a:cs typeface="Poppins" panose="00000500000000000000" pitchFamily="2" charset="0"/>
              </a:rPr>
              <a:t>50%</a:t>
            </a:r>
            <a:endParaRPr lang="en-CA" sz="4000" dirty="0">
              <a:latin typeface="Poppins" panose="00000500000000000000" pitchFamily="2" charset="0"/>
              <a:cs typeface="Poppins" panose="00000500000000000000" pitchFamily="2" charset="0"/>
            </a:endParaRPr>
          </a:p>
        </p:txBody>
      </p:sp>
      <p:sp>
        <p:nvSpPr>
          <p:cNvPr id="43" name="Rectangle 42">
            <a:extLst>
              <a:ext uri="{FF2B5EF4-FFF2-40B4-BE49-F238E27FC236}">
                <a16:creationId xmlns:a16="http://schemas.microsoft.com/office/drawing/2014/main" id="{0A1B1D04-A188-787F-ECEB-42F30A8BABD3}"/>
              </a:ext>
            </a:extLst>
          </p:cNvPr>
          <p:cNvSpPr/>
          <p:nvPr/>
        </p:nvSpPr>
        <p:spPr>
          <a:xfrm>
            <a:off x="457200" y="2916319"/>
            <a:ext cx="8055090" cy="1546798"/>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b="1" dirty="0">
              <a:solidFill>
                <a:srgbClr val="000B5D"/>
              </a:solidFill>
            </a:endParaRPr>
          </a:p>
        </p:txBody>
      </p:sp>
      <p:sp>
        <p:nvSpPr>
          <p:cNvPr id="47" name="TextBox 46">
            <a:extLst>
              <a:ext uri="{FF2B5EF4-FFF2-40B4-BE49-F238E27FC236}">
                <a16:creationId xmlns:a16="http://schemas.microsoft.com/office/drawing/2014/main" id="{CAB42DB9-E20D-9FA1-95AA-4D43B641E1F3}"/>
              </a:ext>
            </a:extLst>
          </p:cNvPr>
          <p:cNvSpPr txBox="1"/>
          <p:nvPr/>
        </p:nvSpPr>
        <p:spPr>
          <a:xfrm>
            <a:off x="623049" y="3253888"/>
            <a:ext cx="7783217" cy="1015663"/>
          </a:xfrm>
          <a:prstGeom prst="rect">
            <a:avLst/>
          </a:prstGeom>
          <a:noFill/>
        </p:spPr>
        <p:txBody>
          <a:bodyPr wrap="square" rtlCol="0">
            <a:spAutoFit/>
          </a:bodyPr>
          <a:lstStyle/>
          <a:p>
            <a:r>
              <a:rPr lang="en-US" sz="2000" dirty="0">
                <a:solidFill>
                  <a:srgbClr val="000B5D"/>
                </a:solidFill>
              </a:rPr>
              <a:t>To provide a comprehensive analysis of the COVID-19 pandemic's impact on ABC Company's customer base, highlighting revenue trends, customer dynamics, and sector performance to guide strategic decision-making.</a:t>
            </a:r>
            <a:endParaRPr lang="en-CA" sz="2000" dirty="0">
              <a:solidFill>
                <a:srgbClr val="000B5D"/>
              </a:solidFill>
            </a:endParaRPr>
          </a:p>
        </p:txBody>
      </p:sp>
    </p:spTree>
    <p:extLst>
      <p:ext uri="{BB962C8B-B14F-4D97-AF65-F5344CB8AC3E}">
        <p14:creationId xmlns:p14="http://schemas.microsoft.com/office/powerpoint/2010/main" val="759012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a:extLst>
            <a:ext uri="{FF2B5EF4-FFF2-40B4-BE49-F238E27FC236}">
              <a16:creationId xmlns:a16="http://schemas.microsoft.com/office/drawing/2014/main" id="{C926623D-320D-9474-7872-89E525CA5F9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A546912-3CAE-BA15-AC78-033562BB288B}"/>
              </a:ext>
            </a:extLst>
          </p:cNvPr>
          <p:cNvGrpSpPr/>
          <p:nvPr/>
        </p:nvGrpSpPr>
        <p:grpSpPr>
          <a:xfrm>
            <a:off x="413223" y="1536994"/>
            <a:ext cx="7740178" cy="7840682"/>
            <a:chOff x="0" y="0"/>
            <a:chExt cx="2106826" cy="2113092"/>
          </a:xfrm>
          <a:solidFill>
            <a:srgbClr val="0A2D7A"/>
          </a:solidFill>
        </p:grpSpPr>
        <p:sp>
          <p:nvSpPr>
            <p:cNvPr id="3" name="Freeform 3">
              <a:extLst>
                <a:ext uri="{FF2B5EF4-FFF2-40B4-BE49-F238E27FC236}">
                  <a16:creationId xmlns:a16="http://schemas.microsoft.com/office/drawing/2014/main" id="{1AE4F1AB-96D9-982C-E566-4F88B4FF9E3D}"/>
                </a:ext>
              </a:extLst>
            </p:cNvPr>
            <p:cNvSpPr/>
            <p:nvPr/>
          </p:nvSpPr>
          <p:spPr>
            <a:xfrm>
              <a:off x="0" y="0"/>
              <a:ext cx="2106826" cy="2113092"/>
            </a:xfrm>
            <a:custGeom>
              <a:avLst/>
              <a:gdLst/>
              <a:ahLst/>
              <a:cxnLst/>
              <a:rect l="l" t="t" r="r" b="b"/>
              <a:pathLst>
                <a:path w="2106826" h="2113092">
                  <a:moveTo>
                    <a:pt x="0" y="0"/>
                  </a:moveTo>
                  <a:lnTo>
                    <a:pt x="2106826" y="0"/>
                  </a:lnTo>
                  <a:lnTo>
                    <a:pt x="2106826" y="2113092"/>
                  </a:lnTo>
                  <a:lnTo>
                    <a:pt x="0" y="2113092"/>
                  </a:lnTo>
                  <a:close/>
                </a:path>
              </a:pathLst>
            </a:custGeom>
            <a:grp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7BFDE91D-6DB1-CDC1-3477-BFE469B4A53D}"/>
                </a:ext>
              </a:extLst>
            </p:cNvPr>
            <p:cNvSpPr txBox="1"/>
            <p:nvPr/>
          </p:nvSpPr>
          <p:spPr>
            <a:xfrm>
              <a:off x="0" y="-38100"/>
              <a:ext cx="2106826" cy="2151192"/>
            </a:xfrm>
            <a:prstGeom prst="rect">
              <a:avLst/>
            </a:prstGeom>
            <a:grpFill/>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6" name="Group 16">
            <a:extLst>
              <a:ext uri="{FF2B5EF4-FFF2-40B4-BE49-F238E27FC236}">
                <a16:creationId xmlns:a16="http://schemas.microsoft.com/office/drawing/2014/main" id="{A8643DCC-8983-4D32-8F68-FE5CEA88D677}"/>
              </a:ext>
            </a:extLst>
          </p:cNvPr>
          <p:cNvGrpSpPr/>
          <p:nvPr/>
        </p:nvGrpSpPr>
        <p:grpSpPr>
          <a:xfrm>
            <a:off x="413222" y="9375131"/>
            <a:ext cx="7740178" cy="546260"/>
            <a:chOff x="0" y="0"/>
            <a:chExt cx="2106826" cy="120127"/>
          </a:xfrm>
        </p:grpSpPr>
        <p:sp>
          <p:nvSpPr>
            <p:cNvPr id="17" name="Freeform 17">
              <a:extLst>
                <a:ext uri="{FF2B5EF4-FFF2-40B4-BE49-F238E27FC236}">
                  <a16:creationId xmlns:a16="http://schemas.microsoft.com/office/drawing/2014/main" id="{EE5D8FEE-A0EC-457D-520D-006F78A1D3C3}"/>
                </a:ext>
              </a:extLst>
            </p:cNvPr>
            <p:cNvSpPr/>
            <p:nvPr/>
          </p:nvSpPr>
          <p:spPr>
            <a:xfrm>
              <a:off x="0" y="0"/>
              <a:ext cx="2106826" cy="120127"/>
            </a:xfrm>
            <a:custGeom>
              <a:avLst/>
              <a:gdLst/>
              <a:ahLst/>
              <a:cxnLst/>
              <a:rect l="l" t="t" r="r" b="b"/>
              <a:pathLst>
                <a:path w="2106826" h="120127">
                  <a:moveTo>
                    <a:pt x="0" y="0"/>
                  </a:moveTo>
                  <a:lnTo>
                    <a:pt x="2106826" y="0"/>
                  </a:lnTo>
                  <a:lnTo>
                    <a:pt x="2106826" y="120127"/>
                  </a:lnTo>
                  <a:lnTo>
                    <a:pt x="0" y="120127"/>
                  </a:lnTo>
                  <a:close/>
                </a:path>
              </a:pathLst>
            </a:custGeom>
            <a:solidFill>
              <a:srgbClr val="145DA0">
                <a:alpha val="48627"/>
              </a:srgbClr>
            </a:solid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Box 18">
              <a:extLst>
                <a:ext uri="{FF2B5EF4-FFF2-40B4-BE49-F238E27FC236}">
                  <a16:creationId xmlns:a16="http://schemas.microsoft.com/office/drawing/2014/main" id="{14A6E1F1-D43E-B7B9-21EC-BAF436E56A25}"/>
                </a:ext>
              </a:extLst>
            </p:cNvPr>
            <p:cNvSpPr txBox="1"/>
            <p:nvPr/>
          </p:nvSpPr>
          <p:spPr>
            <a:xfrm>
              <a:off x="0" y="-38100"/>
              <a:ext cx="2106826" cy="158227"/>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9" name="Group 19">
            <a:extLst>
              <a:ext uri="{FF2B5EF4-FFF2-40B4-BE49-F238E27FC236}">
                <a16:creationId xmlns:a16="http://schemas.microsoft.com/office/drawing/2014/main" id="{31E89E04-9D33-E1FD-C7EF-85CE564E015C}"/>
              </a:ext>
            </a:extLst>
          </p:cNvPr>
          <p:cNvGrpSpPr/>
          <p:nvPr/>
        </p:nvGrpSpPr>
        <p:grpSpPr>
          <a:xfrm>
            <a:off x="15240000" y="8627097"/>
            <a:ext cx="7523780" cy="7523780"/>
            <a:chOff x="0" y="0"/>
            <a:chExt cx="812800" cy="812800"/>
          </a:xfrm>
        </p:grpSpPr>
        <p:sp>
          <p:nvSpPr>
            <p:cNvPr id="20" name="Freeform 20">
              <a:extLst>
                <a:ext uri="{FF2B5EF4-FFF2-40B4-BE49-F238E27FC236}">
                  <a16:creationId xmlns:a16="http://schemas.microsoft.com/office/drawing/2014/main" id="{3FC14F2B-8CB3-3B29-0CFF-EFC58B1374B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Box 21">
              <a:extLst>
                <a:ext uri="{FF2B5EF4-FFF2-40B4-BE49-F238E27FC236}">
                  <a16:creationId xmlns:a16="http://schemas.microsoft.com/office/drawing/2014/main" id="{5CDE3B10-A6B0-2F2B-CE9E-C3FE46C90A25}"/>
                </a:ext>
              </a:extLst>
            </p:cNvPr>
            <p:cNvSpPr txBox="1"/>
            <p:nvPr/>
          </p:nvSpPr>
          <p:spPr>
            <a:xfrm>
              <a:off x="76200" y="38100"/>
              <a:ext cx="660400" cy="698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2" name="Group 22">
            <a:extLst>
              <a:ext uri="{FF2B5EF4-FFF2-40B4-BE49-F238E27FC236}">
                <a16:creationId xmlns:a16="http://schemas.microsoft.com/office/drawing/2014/main" id="{E794C15F-15D0-80F4-B22B-F877087B9DE3}"/>
              </a:ext>
            </a:extLst>
          </p:cNvPr>
          <p:cNvGrpSpPr/>
          <p:nvPr/>
        </p:nvGrpSpPr>
        <p:grpSpPr>
          <a:xfrm>
            <a:off x="-3733800" y="-4649058"/>
            <a:ext cx="5924489" cy="5924489"/>
            <a:chOff x="0" y="0"/>
            <a:chExt cx="812800" cy="812800"/>
          </a:xfrm>
        </p:grpSpPr>
        <p:sp>
          <p:nvSpPr>
            <p:cNvPr id="23" name="Freeform 23">
              <a:extLst>
                <a:ext uri="{FF2B5EF4-FFF2-40B4-BE49-F238E27FC236}">
                  <a16:creationId xmlns:a16="http://schemas.microsoft.com/office/drawing/2014/main" id="{524222C7-C9B1-701A-BAB0-C64691E1944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Box 24">
              <a:extLst>
                <a:ext uri="{FF2B5EF4-FFF2-40B4-BE49-F238E27FC236}">
                  <a16:creationId xmlns:a16="http://schemas.microsoft.com/office/drawing/2014/main" id="{2798527E-DE71-7C2A-AF1F-BBAA26263CBF}"/>
                </a:ext>
              </a:extLst>
            </p:cNvPr>
            <p:cNvSpPr txBox="1"/>
            <p:nvPr/>
          </p:nvSpPr>
          <p:spPr>
            <a:xfrm>
              <a:off x="76200" y="38100"/>
              <a:ext cx="660400" cy="698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8" name="TextBox 14">
            <a:extLst>
              <a:ext uri="{FF2B5EF4-FFF2-40B4-BE49-F238E27FC236}">
                <a16:creationId xmlns:a16="http://schemas.microsoft.com/office/drawing/2014/main" id="{EBFE2C60-C62B-5035-585B-5FA17F064F4B}"/>
              </a:ext>
            </a:extLst>
          </p:cNvPr>
          <p:cNvSpPr txBox="1"/>
          <p:nvPr/>
        </p:nvSpPr>
        <p:spPr>
          <a:xfrm>
            <a:off x="914400" y="1897739"/>
            <a:ext cx="7467600" cy="1504514"/>
          </a:xfrm>
          <a:prstGeom prst="rect">
            <a:avLst/>
          </a:prstGeom>
        </p:spPr>
        <p:txBody>
          <a:bodyPr wrap="square" lIns="0" tIns="0" rIns="0" bIns="0" rtlCol="0" anchor="t">
            <a:spAutoFit/>
          </a:bodyPr>
          <a:lstStyle/>
          <a:p>
            <a:pPr marL="0" marR="0" lvl="0" indent="0" algn="l" defTabSz="914400" rtl="0" eaLnBrk="1" fontAlgn="auto" latinLnBrk="0" hangingPunct="1">
              <a:lnSpc>
                <a:spcPts val="5966"/>
              </a:lnSpc>
              <a:spcBef>
                <a:spcPct val="0"/>
              </a:spcBef>
              <a:spcAft>
                <a:spcPts val="0"/>
              </a:spcAft>
              <a:buClrTx/>
              <a:buSzTx/>
              <a:buFontTx/>
              <a:buNone/>
              <a:tabLst/>
              <a:defRPr/>
            </a:pPr>
            <a:r>
              <a:rPr lang="en-US" sz="4400" b="1" dirty="0">
                <a:solidFill>
                  <a:schemeClr val="bg1"/>
                </a:solidFill>
                <a:latin typeface="Poppins" panose="00000500000000000000" pitchFamily="2" charset="0"/>
                <a:ea typeface="Open Sans Extra Bold" panose="020B0604020202020204" charset="0"/>
                <a:cs typeface="Poppins" panose="00000500000000000000" pitchFamily="2" charset="0"/>
              </a:rPr>
              <a:t>First Impact of COVID-19 on Customer Volumes</a:t>
            </a:r>
            <a:endParaRPr kumimoji="0" lang="en-US" sz="4400" b="1" i="0" u="none" strike="noStrike" kern="1200" cap="none" spc="178" normalizeH="0" baseline="0" noProof="0" dirty="0">
              <a:ln>
                <a:noFill/>
              </a:ln>
              <a:solidFill>
                <a:schemeClr val="bg1"/>
              </a:solidFill>
              <a:effectLst/>
              <a:uLnTx/>
              <a:uFillTx/>
              <a:latin typeface="Poppins" panose="00000500000000000000" pitchFamily="2" charset="0"/>
              <a:ea typeface="Open Sans Extra Bold" panose="020B0604020202020204" charset="0"/>
              <a:cs typeface="Poppins" panose="00000500000000000000" pitchFamily="2" charset="0"/>
              <a:sym typeface="Montserrat Classic Bold"/>
            </a:endParaRPr>
          </a:p>
        </p:txBody>
      </p:sp>
      <p:sp>
        <p:nvSpPr>
          <p:cNvPr id="29" name="TextBox 6">
            <a:extLst>
              <a:ext uri="{FF2B5EF4-FFF2-40B4-BE49-F238E27FC236}">
                <a16:creationId xmlns:a16="http://schemas.microsoft.com/office/drawing/2014/main" id="{2D8B329B-4049-5F5C-2107-329863F16D41}"/>
              </a:ext>
            </a:extLst>
          </p:cNvPr>
          <p:cNvSpPr txBox="1"/>
          <p:nvPr/>
        </p:nvSpPr>
        <p:spPr>
          <a:xfrm>
            <a:off x="914400" y="4248055"/>
            <a:ext cx="6853055" cy="3600986"/>
          </a:xfrm>
          <a:prstGeom prst="rect">
            <a:avLst/>
          </a:prstGeom>
        </p:spPr>
        <p:txBody>
          <a:bodyPr wrap="square" lIns="0" tIns="0" rIns="0" bIns="0" rtlCol="0" anchor="t">
            <a:spAutoFit/>
          </a:bodyPr>
          <a:lstStyle/>
          <a:p>
            <a:endParaRPr lang="en-US" sz="2000" b="1" dirty="0">
              <a:solidFill>
                <a:schemeClr val="bg1"/>
              </a:solidFill>
              <a:cs typeface="Poppins" panose="00000500000000000000" pitchFamily="2" charset="0"/>
            </a:endParaRPr>
          </a:p>
          <a:p>
            <a:pPr marL="342900" indent="-342900">
              <a:buFont typeface="Wingdings" panose="05000000000000000000" pitchFamily="2" charset="2"/>
              <a:buChar char="§"/>
            </a:pPr>
            <a:r>
              <a:rPr lang="en-US" sz="2200" b="1" dirty="0">
                <a:solidFill>
                  <a:schemeClr val="bg1"/>
                </a:solidFill>
                <a:cs typeface="Poppins" panose="00000500000000000000" pitchFamily="2" charset="0"/>
              </a:rPr>
              <a:t>Initial Impact</a:t>
            </a:r>
            <a:r>
              <a:rPr lang="en-US" sz="2200" dirty="0">
                <a:solidFill>
                  <a:schemeClr val="bg1"/>
                </a:solidFill>
                <a:cs typeface="Poppins" panose="00000500000000000000" pitchFamily="2" charset="0"/>
              </a:rPr>
              <a:t>: Around week 12 (March 2020), we see the first notable increase in parcel volumes, which aligns with the onset of lockdowns and social distancing measures.</a:t>
            </a:r>
          </a:p>
          <a:p>
            <a:pPr marL="342900" indent="-342900">
              <a:buFont typeface="Wingdings" panose="05000000000000000000" pitchFamily="2" charset="2"/>
              <a:buChar char="§"/>
            </a:pPr>
            <a:endParaRPr lang="en-US" sz="2200" b="1" dirty="0">
              <a:solidFill>
                <a:schemeClr val="bg1"/>
              </a:solidFill>
              <a:cs typeface="Poppins" panose="00000500000000000000" pitchFamily="2" charset="0"/>
            </a:endParaRPr>
          </a:p>
          <a:p>
            <a:pPr marL="342900" indent="-342900">
              <a:buFont typeface="Wingdings" panose="05000000000000000000" pitchFamily="2" charset="2"/>
              <a:buChar char="§"/>
            </a:pPr>
            <a:r>
              <a:rPr lang="en-US" sz="2200" b="1" dirty="0">
                <a:solidFill>
                  <a:schemeClr val="bg1"/>
                </a:solidFill>
                <a:cs typeface="Poppins" panose="00000500000000000000" pitchFamily="2" charset="0"/>
              </a:rPr>
              <a:t>Peak Growth</a:t>
            </a:r>
            <a:r>
              <a:rPr lang="en-US" sz="2200" dirty="0">
                <a:solidFill>
                  <a:schemeClr val="bg1"/>
                </a:solidFill>
                <a:cs typeface="Poppins" panose="00000500000000000000" pitchFamily="2" charset="0"/>
              </a:rPr>
              <a:t>: Following this initial spike, there’s a substantial rise around week 20, indicating a continued shift towards online shopping.</a:t>
            </a:r>
          </a:p>
          <a:p>
            <a:endParaRPr lang="en-US" sz="2000" dirty="0">
              <a:solidFill>
                <a:schemeClr val="bg1"/>
              </a:solidFill>
            </a:endParaRPr>
          </a:p>
          <a:p>
            <a:endParaRPr lang="en-US" sz="2000" dirty="0">
              <a:solidFill>
                <a:schemeClr val="bg1"/>
              </a:solidFill>
            </a:endParaRPr>
          </a:p>
          <a:p>
            <a:pPr>
              <a:buFont typeface="Arial" panose="020B0604020202020204" pitchFamily="34" charset="0"/>
              <a:buChar char="•"/>
            </a:pPr>
            <a:endParaRPr lang="en-US" sz="2000" dirty="0">
              <a:solidFill>
                <a:schemeClr val="bg1"/>
              </a:solidFill>
            </a:endParaRPr>
          </a:p>
        </p:txBody>
      </p:sp>
      <p:pic>
        <p:nvPicPr>
          <p:cNvPr id="6" name="Picture 5" descr="A graph of different colored lines&#10;&#10;Description automatically generated">
            <a:extLst>
              <a:ext uri="{FF2B5EF4-FFF2-40B4-BE49-F238E27FC236}">
                <a16:creationId xmlns:a16="http://schemas.microsoft.com/office/drawing/2014/main" id="{2DF34B52-3291-C847-AAB1-12614F6A81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04918" y="1445618"/>
            <a:ext cx="9877050" cy="6916896"/>
          </a:xfrm>
          <a:prstGeom prst="rect">
            <a:avLst/>
          </a:prstGeom>
        </p:spPr>
      </p:pic>
      <p:sp>
        <p:nvSpPr>
          <p:cNvPr id="7" name="Slide Number Placeholder 6">
            <a:extLst>
              <a:ext uri="{FF2B5EF4-FFF2-40B4-BE49-F238E27FC236}">
                <a16:creationId xmlns:a16="http://schemas.microsoft.com/office/drawing/2014/main" id="{8EE2116D-8C63-5DCE-6823-E3E8C29F6C4C}"/>
              </a:ext>
            </a:extLst>
          </p:cNvPr>
          <p:cNvSpPr>
            <a:spLocks noGrp="1"/>
          </p:cNvSpPr>
          <p:nvPr>
            <p:ph type="sldNum" sz="quarter" idx="12"/>
          </p:nvPr>
        </p:nvSpPr>
        <p:spPr>
          <a:xfrm>
            <a:off x="8526780" y="9648261"/>
            <a:ext cx="2133600" cy="365125"/>
          </a:xfrm>
        </p:spPr>
        <p:txBody>
          <a:bodyPr/>
          <a:lstStyle/>
          <a:p>
            <a:fld id="{B6F15528-21DE-4FAA-801E-634DDDAF4B2B}" type="slidenum">
              <a:rPr lang="en-US" sz="2000" b="1" smtClean="0">
                <a:solidFill>
                  <a:schemeClr val="tx2"/>
                </a:solidFill>
              </a:rPr>
              <a:pPr/>
              <a:t>4</a:t>
            </a:fld>
            <a:endParaRPr lang="en-US" sz="2000" b="1" dirty="0">
              <a:solidFill>
                <a:schemeClr val="tx2"/>
              </a:solidFill>
            </a:endParaRPr>
          </a:p>
        </p:txBody>
      </p:sp>
    </p:spTree>
    <p:extLst>
      <p:ext uri="{BB962C8B-B14F-4D97-AF65-F5344CB8AC3E}">
        <p14:creationId xmlns:p14="http://schemas.microsoft.com/office/powerpoint/2010/main" val="14920441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377C"/>
        </a:solidFill>
        <a:effectLst/>
      </p:bgPr>
    </p:bg>
    <p:spTree>
      <p:nvGrpSpPr>
        <p:cNvPr id="1" name="">
          <a:extLst>
            <a:ext uri="{FF2B5EF4-FFF2-40B4-BE49-F238E27FC236}">
              <a16:creationId xmlns:a16="http://schemas.microsoft.com/office/drawing/2014/main" id="{6220322D-6909-0B3D-FB77-4B37B74B5BE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333F81C-0A88-0C8F-FCE4-9CC262D3808A}"/>
              </a:ext>
            </a:extLst>
          </p:cNvPr>
          <p:cNvGrpSpPr/>
          <p:nvPr/>
        </p:nvGrpSpPr>
        <p:grpSpPr>
          <a:xfrm>
            <a:off x="7924800" y="495300"/>
            <a:ext cx="9853761" cy="9220200"/>
            <a:chOff x="0" y="0"/>
            <a:chExt cx="2410883" cy="2425237"/>
          </a:xfrm>
        </p:grpSpPr>
        <p:sp>
          <p:nvSpPr>
            <p:cNvPr id="3" name="Freeform 3">
              <a:extLst>
                <a:ext uri="{FF2B5EF4-FFF2-40B4-BE49-F238E27FC236}">
                  <a16:creationId xmlns:a16="http://schemas.microsoft.com/office/drawing/2014/main" id="{AEF582FA-4EF7-E996-3A82-B2A39F4B9FEB}"/>
                </a:ext>
              </a:extLst>
            </p:cNvPr>
            <p:cNvSpPr/>
            <p:nvPr/>
          </p:nvSpPr>
          <p:spPr>
            <a:xfrm>
              <a:off x="0" y="0"/>
              <a:ext cx="2410883" cy="2425237"/>
            </a:xfrm>
            <a:custGeom>
              <a:avLst/>
              <a:gdLst/>
              <a:ahLst/>
              <a:cxnLst/>
              <a:rect l="l" t="t" r="r" b="b"/>
              <a:pathLst>
                <a:path w="2410883" h="2425237">
                  <a:moveTo>
                    <a:pt x="0" y="0"/>
                  </a:moveTo>
                  <a:lnTo>
                    <a:pt x="2410883" y="0"/>
                  </a:lnTo>
                  <a:lnTo>
                    <a:pt x="2410883" y="2425237"/>
                  </a:lnTo>
                  <a:lnTo>
                    <a:pt x="0" y="2425237"/>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80EA680D-A223-D585-19DD-352B13221D75}"/>
                </a:ext>
              </a:extLst>
            </p:cNvPr>
            <p:cNvSpPr txBox="1"/>
            <p:nvPr/>
          </p:nvSpPr>
          <p:spPr>
            <a:xfrm>
              <a:off x="0" y="-47625"/>
              <a:ext cx="2410883" cy="2472862"/>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TextBox 6">
            <a:extLst>
              <a:ext uri="{FF2B5EF4-FFF2-40B4-BE49-F238E27FC236}">
                <a16:creationId xmlns:a16="http://schemas.microsoft.com/office/drawing/2014/main" id="{0D692210-769C-7137-75C2-74F568A43DED}"/>
              </a:ext>
            </a:extLst>
          </p:cNvPr>
          <p:cNvSpPr txBox="1"/>
          <p:nvPr/>
        </p:nvSpPr>
        <p:spPr>
          <a:xfrm>
            <a:off x="733542" y="3390900"/>
            <a:ext cx="6997635" cy="6555641"/>
          </a:xfrm>
          <a:prstGeom prst="rect">
            <a:avLst/>
          </a:prstGeom>
        </p:spPr>
        <p:txBody>
          <a:bodyPr wrap="square" lIns="0" tIns="0" rIns="0" bIns="0" rtlCol="0" anchor="t">
            <a:spAutoFit/>
          </a:bodyPr>
          <a:lstStyle/>
          <a:p>
            <a:r>
              <a:rPr lang="en-US" sz="2800" b="1" dirty="0">
                <a:solidFill>
                  <a:schemeClr val="bg1"/>
                </a:solidFill>
                <a:cs typeface="Poppins" panose="00000500000000000000" pitchFamily="2" charset="0"/>
              </a:rPr>
              <a:t>March 11, 2020:</a:t>
            </a:r>
            <a:endParaRPr lang="en-US" sz="2200" b="1" dirty="0">
              <a:solidFill>
                <a:schemeClr val="bg1"/>
              </a:solidFill>
              <a:cs typeface="Poppins" panose="00000500000000000000" pitchFamily="2" charset="0"/>
            </a:endParaRPr>
          </a:p>
          <a:p>
            <a:r>
              <a:rPr lang="en-US" sz="2200" b="1" dirty="0">
                <a:solidFill>
                  <a:schemeClr val="bg1"/>
                </a:solidFill>
                <a:cs typeface="Poppins" panose="00000500000000000000" pitchFamily="2" charset="0"/>
              </a:rPr>
              <a:t>Event: </a:t>
            </a:r>
            <a:r>
              <a:rPr lang="en-US" sz="2200" dirty="0">
                <a:solidFill>
                  <a:schemeClr val="bg1"/>
                </a:solidFill>
                <a:cs typeface="Poppins" panose="00000500000000000000" pitchFamily="2" charset="0"/>
              </a:rPr>
              <a:t>WHO declares COVID-19 a pandemic.</a:t>
            </a:r>
          </a:p>
          <a:p>
            <a:r>
              <a:rPr lang="en-US" sz="2200" b="1" dirty="0">
                <a:solidFill>
                  <a:schemeClr val="bg1"/>
                </a:solidFill>
                <a:cs typeface="Poppins" panose="00000500000000000000" pitchFamily="2" charset="0"/>
              </a:rPr>
              <a:t>Impact: </a:t>
            </a:r>
            <a:r>
              <a:rPr lang="en-US" sz="2200" dirty="0">
                <a:solidFill>
                  <a:schemeClr val="bg1"/>
                </a:solidFill>
                <a:cs typeface="Poppins" panose="00000500000000000000" pitchFamily="2" charset="0"/>
              </a:rPr>
              <a:t>Surge in parcel volumes due to panic buying and rise in e-commerce.</a:t>
            </a:r>
          </a:p>
          <a:p>
            <a:endParaRPr lang="en-US" sz="2000" dirty="0">
              <a:solidFill>
                <a:schemeClr val="bg1"/>
              </a:solidFill>
            </a:endParaRPr>
          </a:p>
          <a:p>
            <a:r>
              <a:rPr lang="en-US" sz="2800" b="1" dirty="0">
                <a:solidFill>
                  <a:schemeClr val="bg1"/>
                </a:solidFill>
              </a:rPr>
              <a:t>March 16, 2020:</a:t>
            </a:r>
            <a:endParaRPr lang="en-US" sz="2000" dirty="0">
              <a:solidFill>
                <a:schemeClr val="bg1"/>
              </a:solidFill>
            </a:endParaRPr>
          </a:p>
          <a:p>
            <a:r>
              <a:rPr lang="en-US" sz="2000" b="1" dirty="0">
                <a:solidFill>
                  <a:schemeClr val="bg1"/>
                </a:solidFill>
              </a:rPr>
              <a:t>Event: </a:t>
            </a:r>
            <a:r>
              <a:rPr lang="en-US" sz="2000" dirty="0">
                <a:solidFill>
                  <a:schemeClr val="bg1"/>
                </a:solidFill>
              </a:rPr>
              <a:t>Federal public servants urged to work from home.</a:t>
            </a:r>
          </a:p>
          <a:p>
            <a:r>
              <a:rPr lang="en-US" sz="2000" b="1" dirty="0">
                <a:solidFill>
                  <a:schemeClr val="bg1"/>
                </a:solidFill>
              </a:rPr>
              <a:t>Impact: </a:t>
            </a:r>
            <a:r>
              <a:rPr lang="en-US" sz="2000" dirty="0">
                <a:solidFill>
                  <a:schemeClr val="bg1"/>
                </a:solidFill>
              </a:rPr>
              <a:t>Increased demand for home deliveries of work-related and personal items.</a:t>
            </a:r>
          </a:p>
          <a:p>
            <a:endParaRPr lang="en-US" sz="2000" dirty="0">
              <a:solidFill>
                <a:schemeClr val="bg1"/>
              </a:solidFill>
            </a:endParaRPr>
          </a:p>
          <a:p>
            <a:r>
              <a:rPr lang="en-US" sz="2800" b="1" dirty="0">
                <a:solidFill>
                  <a:schemeClr val="bg1"/>
                </a:solidFill>
              </a:rPr>
              <a:t>March 18, 2020:</a:t>
            </a:r>
            <a:endParaRPr lang="en-US" sz="2000" dirty="0">
              <a:solidFill>
                <a:schemeClr val="bg1"/>
              </a:solidFill>
            </a:endParaRPr>
          </a:p>
          <a:p>
            <a:r>
              <a:rPr lang="en-US" sz="2000" b="1" dirty="0">
                <a:solidFill>
                  <a:schemeClr val="bg1"/>
                </a:solidFill>
              </a:rPr>
              <a:t>Event: </a:t>
            </a:r>
            <a:r>
              <a:rPr lang="en-US" sz="2000" dirty="0">
                <a:solidFill>
                  <a:schemeClr val="bg1"/>
                </a:solidFill>
              </a:rPr>
              <a:t>Canada-U.S. border restrictions imposed.</a:t>
            </a:r>
          </a:p>
          <a:p>
            <a:r>
              <a:rPr lang="en-US" sz="2000" b="1" dirty="0">
                <a:solidFill>
                  <a:schemeClr val="bg1"/>
                </a:solidFill>
              </a:rPr>
              <a:t>Impact: </a:t>
            </a:r>
            <a:r>
              <a:rPr lang="en-US" sz="2000" dirty="0">
                <a:solidFill>
                  <a:schemeClr val="bg1"/>
                </a:solidFill>
              </a:rPr>
              <a:t>Shift in demand towards domestic parcel deliveries.</a:t>
            </a:r>
          </a:p>
          <a:p>
            <a:endParaRPr lang="en-US" sz="2800" b="1" dirty="0">
              <a:solidFill>
                <a:schemeClr val="bg1"/>
              </a:solidFill>
            </a:endParaRPr>
          </a:p>
          <a:p>
            <a:r>
              <a:rPr lang="en-US" sz="2800" b="1" dirty="0">
                <a:solidFill>
                  <a:schemeClr val="bg1"/>
                </a:solidFill>
              </a:rPr>
              <a:t>April 6, 2020:</a:t>
            </a:r>
            <a:endParaRPr lang="en-US" sz="2000" dirty="0">
              <a:solidFill>
                <a:schemeClr val="bg1"/>
              </a:solidFill>
            </a:endParaRPr>
          </a:p>
          <a:p>
            <a:r>
              <a:rPr lang="en-US" sz="2000" b="1" dirty="0">
                <a:solidFill>
                  <a:schemeClr val="bg1"/>
                </a:solidFill>
              </a:rPr>
              <a:t>Event: </a:t>
            </a:r>
            <a:r>
              <a:rPr lang="en-US" sz="2000" dirty="0">
                <a:solidFill>
                  <a:schemeClr val="bg1"/>
                </a:solidFill>
              </a:rPr>
              <a:t>Canada Emergency Response Benefit (C.E.R.B.) launched.</a:t>
            </a:r>
          </a:p>
          <a:p>
            <a:r>
              <a:rPr lang="en-US" sz="2000" b="1" dirty="0">
                <a:solidFill>
                  <a:schemeClr val="bg1"/>
                </a:solidFill>
              </a:rPr>
              <a:t>Impact: </a:t>
            </a:r>
            <a:r>
              <a:rPr lang="en-US" sz="2000" dirty="0">
                <a:solidFill>
                  <a:schemeClr val="bg1"/>
                </a:solidFill>
              </a:rPr>
              <a:t>Stabilized consumer spending, sustaining the rise in parcel volumes.</a:t>
            </a:r>
          </a:p>
          <a:p>
            <a:pPr>
              <a:buFont typeface="Arial" panose="020B0604020202020204" pitchFamily="34" charset="0"/>
              <a:buChar char="•"/>
            </a:pPr>
            <a:endParaRPr lang="en-US" sz="2000" dirty="0">
              <a:solidFill>
                <a:schemeClr val="bg1"/>
              </a:solidFill>
            </a:endParaRPr>
          </a:p>
        </p:txBody>
      </p:sp>
      <p:sp>
        <p:nvSpPr>
          <p:cNvPr id="14" name="TextBox 14">
            <a:extLst>
              <a:ext uri="{FF2B5EF4-FFF2-40B4-BE49-F238E27FC236}">
                <a16:creationId xmlns:a16="http://schemas.microsoft.com/office/drawing/2014/main" id="{D3CFC46C-A17B-2E84-9110-7CFF27283BB7}"/>
              </a:ext>
            </a:extLst>
          </p:cNvPr>
          <p:cNvSpPr txBox="1"/>
          <p:nvPr/>
        </p:nvSpPr>
        <p:spPr>
          <a:xfrm>
            <a:off x="598674" y="548640"/>
            <a:ext cx="7132503" cy="2273956"/>
          </a:xfrm>
          <a:prstGeom prst="rect">
            <a:avLst/>
          </a:prstGeom>
        </p:spPr>
        <p:txBody>
          <a:bodyPr wrap="square" lIns="0" tIns="0" rIns="0" bIns="0" rtlCol="0" anchor="t">
            <a:spAutoFit/>
          </a:bodyPr>
          <a:lstStyle/>
          <a:p>
            <a:pPr marL="0" marR="0" lvl="0" indent="0" algn="l" defTabSz="914400" rtl="0" eaLnBrk="1" fontAlgn="auto" latinLnBrk="0" hangingPunct="1">
              <a:lnSpc>
                <a:spcPts val="5966"/>
              </a:lnSpc>
              <a:spcBef>
                <a:spcPct val="0"/>
              </a:spcBef>
              <a:spcAft>
                <a:spcPts val="0"/>
              </a:spcAft>
              <a:buClrTx/>
              <a:buSzTx/>
              <a:buFontTx/>
              <a:buNone/>
              <a:tabLst/>
              <a:defRPr/>
            </a:pPr>
            <a:r>
              <a:rPr lang="en-US" sz="4400" b="1" dirty="0">
                <a:solidFill>
                  <a:schemeClr val="bg1"/>
                </a:solidFill>
                <a:latin typeface="Poppins" panose="00000500000000000000" pitchFamily="2" charset="0"/>
                <a:ea typeface="Open Sans Extra Bold" panose="020B0604020202020204" charset="0"/>
                <a:cs typeface="Poppins" panose="00000500000000000000" pitchFamily="2" charset="0"/>
              </a:rPr>
              <a:t>Key Events in the COVID-19 Timeline Impacting Change</a:t>
            </a:r>
            <a:endParaRPr kumimoji="0" lang="en-US" sz="4400" b="1" i="0" u="none" strike="noStrike" kern="1200" cap="none" spc="178" normalizeH="0" baseline="0" noProof="0" dirty="0">
              <a:ln>
                <a:noFill/>
              </a:ln>
              <a:solidFill>
                <a:schemeClr val="bg1"/>
              </a:solidFill>
              <a:effectLst/>
              <a:uLnTx/>
              <a:uFillTx/>
              <a:latin typeface="Poppins" panose="00000500000000000000" pitchFamily="2" charset="0"/>
              <a:ea typeface="Open Sans Extra Bold" panose="020B0604020202020204" charset="0"/>
              <a:cs typeface="Poppins" panose="00000500000000000000" pitchFamily="2" charset="0"/>
              <a:sym typeface="Montserrat Classic Bold"/>
            </a:endParaRPr>
          </a:p>
        </p:txBody>
      </p:sp>
      <p:pic>
        <p:nvPicPr>
          <p:cNvPr id="18" name="Picture 17" descr="A graph of a number of people&#10;&#10;Description automatically generated with medium confidence">
            <a:extLst>
              <a:ext uri="{FF2B5EF4-FFF2-40B4-BE49-F238E27FC236}">
                <a16:creationId xmlns:a16="http://schemas.microsoft.com/office/drawing/2014/main" id="{0A143D07-B943-D521-6942-F223B6169B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94313" y="1866900"/>
            <a:ext cx="9695013" cy="6789415"/>
          </a:xfrm>
          <a:prstGeom prst="rect">
            <a:avLst/>
          </a:prstGeom>
        </p:spPr>
      </p:pic>
      <p:sp>
        <p:nvSpPr>
          <p:cNvPr id="20" name="Slide Number Placeholder 18">
            <a:extLst>
              <a:ext uri="{FF2B5EF4-FFF2-40B4-BE49-F238E27FC236}">
                <a16:creationId xmlns:a16="http://schemas.microsoft.com/office/drawing/2014/main" id="{695E4466-6158-0981-2F46-2C8A9B287116}"/>
              </a:ext>
            </a:extLst>
          </p:cNvPr>
          <p:cNvSpPr>
            <a:spLocks noGrp="1"/>
          </p:cNvSpPr>
          <p:nvPr>
            <p:ph type="sldNum" sz="quarter" idx="12"/>
          </p:nvPr>
        </p:nvSpPr>
        <p:spPr>
          <a:xfrm>
            <a:off x="5860713" y="9817089"/>
            <a:ext cx="2133600" cy="365125"/>
          </a:xfrm>
        </p:spPr>
        <p:txBody>
          <a:bodyPr/>
          <a:lstStyle/>
          <a:p>
            <a:fld id="{B6F15528-21DE-4FAA-801E-634DDDAF4B2B}" type="slidenum">
              <a:rPr lang="en-US" sz="2000" b="1" smtClean="0">
                <a:solidFill>
                  <a:schemeClr val="bg1"/>
                </a:solidFill>
              </a:rPr>
              <a:pPr/>
              <a:t>5</a:t>
            </a:fld>
            <a:endParaRPr lang="en-US" sz="2000" b="1" dirty="0">
              <a:solidFill>
                <a:schemeClr val="bg1"/>
              </a:solidFill>
            </a:endParaRPr>
          </a:p>
        </p:txBody>
      </p:sp>
    </p:spTree>
    <p:extLst>
      <p:ext uri="{BB962C8B-B14F-4D97-AF65-F5344CB8AC3E}">
        <p14:creationId xmlns:p14="http://schemas.microsoft.com/office/powerpoint/2010/main" val="15887164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0A7D3-E702-8CD0-F940-CDEC8627F43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BA4F0BE-3110-FEEB-737E-D53D72EDF912}"/>
              </a:ext>
            </a:extLst>
          </p:cNvPr>
          <p:cNvSpPr/>
          <p:nvPr/>
        </p:nvSpPr>
        <p:spPr>
          <a:xfrm>
            <a:off x="990600" y="1155175"/>
            <a:ext cx="7736355" cy="5630086"/>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3">
            <a:extLst>
              <a:ext uri="{FF2B5EF4-FFF2-40B4-BE49-F238E27FC236}">
                <a16:creationId xmlns:a16="http://schemas.microsoft.com/office/drawing/2014/main" id="{00750818-431B-EF99-0B6B-C7E72BFC44D1}"/>
              </a:ext>
            </a:extLst>
          </p:cNvPr>
          <p:cNvSpPr/>
          <p:nvPr/>
        </p:nvSpPr>
        <p:spPr>
          <a:xfrm>
            <a:off x="9144000" y="1137312"/>
            <a:ext cx="7890623" cy="564794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Rectangle: Rounded Corners 14">
            <a:extLst>
              <a:ext uri="{FF2B5EF4-FFF2-40B4-BE49-F238E27FC236}">
                <a16:creationId xmlns:a16="http://schemas.microsoft.com/office/drawing/2014/main" id="{3079D302-AD87-0D29-ED86-13555D790234}"/>
              </a:ext>
            </a:extLst>
          </p:cNvPr>
          <p:cNvSpPr/>
          <p:nvPr/>
        </p:nvSpPr>
        <p:spPr>
          <a:xfrm>
            <a:off x="382850" y="7165831"/>
            <a:ext cx="17522300" cy="2530155"/>
          </a:xfrm>
          <a:prstGeom prst="roundRect">
            <a:avLst/>
          </a:prstGeom>
          <a:solidFill>
            <a:srgbClr val="0A2D7A"/>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CA" dirty="0">
              <a:solidFill>
                <a:srgbClr val="3E95BE"/>
              </a:solidFill>
              <a:cs typeface="Poppins" panose="00000500000000000000" pitchFamily="2" charset="0"/>
            </a:endParaRPr>
          </a:p>
        </p:txBody>
      </p:sp>
      <p:sp>
        <p:nvSpPr>
          <p:cNvPr id="17" name="TextBox 16">
            <a:extLst>
              <a:ext uri="{FF2B5EF4-FFF2-40B4-BE49-F238E27FC236}">
                <a16:creationId xmlns:a16="http://schemas.microsoft.com/office/drawing/2014/main" id="{B79538FA-6306-EFB7-9132-CCC0E6BC8456}"/>
              </a:ext>
            </a:extLst>
          </p:cNvPr>
          <p:cNvSpPr txBox="1"/>
          <p:nvPr/>
        </p:nvSpPr>
        <p:spPr>
          <a:xfrm>
            <a:off x="990600" y="145992"/>
            <a:ext cx="15163800" cy="769441"/>
          </a:xfrm>
          <a:prstGeom prst="rect">
            <a:avLst/>
          </a:prstGeom>
          <a:noFill/>
        </p:spPr>
        <p:txBody>
          <a:bodyPr wrap="square" rtlCol="0">
            <a:spAutoFit/>
          </a:bodyPr>
          <a:lstStyle/>
          <a:p>
            <a:r>
              <a:rPr lang="en-CA" sz="4400" b="1" dirty="0">
                <a:solidFill>
                  <a:schemeClr val="tx2">
                    <a:lumMod val="75000"/>
                  </a:schemeClr>
                </a:solidFill>
                <a:latin typeface="Poppins" panose="00000500000000000000" pitchFamily="2" charset="0"/>
                <a:cs typeface="Poppins" panose="00000500000000000000" pitchFamily="2" charset="0"/>
              </a:rPr>
              <a:t>Impact of COVID-19 in Peak season of 2020</a:t>
            </a:r>
          </a:p>
        </p:txBody>
      </p:sp>
      <p:pic>
        <p:nvPicPr>
          <p:cNvPr id="21" name="Picture 20" descr="A graph of a number of blue squares&#10;&#10;Description automatically generated">
            <a:extLst>
              <a:ext uri="{FF2B5EF4-FFF2-40B4-BE49-F238E27FC236}">
                <a16:creationId xmlns:a16="http://schemas.microsoft.com/office/drawing/2014/main" id="{C7D2D04F-1FF3-4EC4-250A-6C9406AA9C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00" y="1244608"/>
            <a:ext cx="7090414" cy="5504902"/>
          </a:xfrm>
          <a:prstGeom prst="rect">
            <a:avLst/>
          </a:prstGeom>
        </p:spPr>
      </p:pic>
      <p:sp>
        <p:nvSpPr>
          <p:cNvPr id="22" name="TextBox 21">
            <a:extLst>
              <a:ext uri="{FF2B5EF4-FFF2-40B4-BE49-F238E27FC236}">
                <a16:creationId xmlns:a16="http://schemas.microsoft.com/office/drawing/2014/main" id="{E4648677-B101-B3EB-A625-5CC548B240EF}"/>
              </a:ext>
            </a:extLst>
          </p:cNvPr>
          <p:cNvSpPr txBox="1"/>
          <p:nvPr/>
        </p:nvSpPr>
        <p:spPr>
          <a:xfrm>
            <a:off x="4762496" y="7837080"/>
            <a:ext cx="4953000" cy="461665"/>
          </a:xfrm>
          <a:prstGeom prst="rect">
            <a:avLst/>
          </a:prstGeom>
          <a:noFill/>
        </p:spPr>
        <p:txBody>
          <a:bodyPr wrap="square" rtlCol="0">
            <a:spAutoFit/>
          </a:bodyPr>
          <a:lstStyle/>
          <a:p>
            <a:r>
              <a:rPr lang="en-US" sz="2400" b="1" dirty="0">
                <a:solidFill>
                  <a:schemeClr val="bg1"/>
                </a:solidFill>
              </a:rPr>
              <a:t>2019 Peak Season</a:t>
            </a:r>
            <a:r>
              <a:rPr lang="en-US" sz="2000" dirty="0">
                <a:solidFill>
                  <a:schemeClr val="bg1"/>
                </a:solidFill>
              </a:rPr>
              <a:t>: 16.31 million parcels.</a:t>
            </a:r>
            <a:endParaRPr lang="en-CA" sz="2000" dirty="0">
              <a:solidFill>
                <a:schemeClr val="bg1"/>
              </a:solidFill>
            </a:endParaRPr>
          </a:p>
        </p:txBody>
      </p:sp>
      <p:sp>
        <p:nvSpPr>
          <p:cNvPr id="23" name="TextBox 22">
            <a:extLst>
              <a:ext uri="{FF2B5EF4-FFF2-40B4-BE49-F238E27FC236}">
                <a16:creationId xmlns:a16="http://schemas.microsoft.com/office/drawing/2014/main" id="{31D469C2-24FC-BBD7-BB8B-256DE65073BC}"/>
              </a:ext>
            </a:extLst>
          </p:cNvPr>
          <p:cNvSpPr txBox="1"/>
          <p:nvPr/>
        </p:nvSpPr>
        <p:spPr>
          <a:xfrm>
            <a:off x="4762496" y="8510224"/>
            <a:ext cx="4953000" cy="769441"/>
          </a:xfrm>
          <a:prstGeom prst="rect">
            <a:avLst/>
          </a:prstGeom>
          <a:noFill/>
        </p:spPr>
        <p:txBody>
          <a:bodyPr wrap="square" rtlCol="0">
            <a:spAutoFit/>
          </a:bodyPr>
          <a:lstStyle/>
          <a:p>
            <a:r>
              <a:rPr lang="en-US" sz="2400" b="1" dirty="0">
                <a:solidFill>
                  <a:schemeClr val="bg1"/>
                </a:solidFill>
              </a:rPr>
              <a:t>2020 Peak Season</a:t>
            </a:r>
            <a:r>
              <a:rPr lang="en-US" sz="2400" dirty="0">
                <a:solidFill>
                  <a:schemeClr val="bg1"/>
                </a:solidFill>
              </a:rPr>
              <a:t>: </a:t>
            </a:r>
            <a:r>
              <a:rPr lang="en-US" sz="2000" dirty="0">
                <a:solidFill>
                  <a:schemeClr val="bg1"/>
                </a:solidFill>
              </a:rPr>
              <a:t>20.75 million parcels.</a:t>
            </a:r>
          </a:p>
          <a:p>
            <a:endParaRPr lang="en-CA" sz="2000" dirty="0">
              <a:solidFill>
                <a:schemeClr val="bg1"/>
              </a:solidFill>
            </a:endParaRPr>
          </a:p>
        </p:txBody>
      </p:sp>
      <p:sp>
        <p:nvSpPr>
          <p:cNvPr id="25" name="TextBox 24">
            <a:extLst>
              <a:ext uri="{FF2B5EF4-FFF2-40B4-BE49-F238E27FC236}">
                <a16:creationId xmlns:a16="http://schemas.microsoft.com/office/drawing/2014/main" id="{718D3307-35E2-49DD-5DA5-1780387234CF}"/>
              </a:ext>
            </a:extLst>
          </p:cNvPr>
          <p:cNvSpPr txBox="1"/>
          <p:nvPr/>
        </p:nvSpPr>
        <p:spPr>
          <a:xfrm>
            <a:off x="1253485" y="7810500"/>
            <a:ext cx="2185037" cy="769441"/>
          </a:xfrm>
          <a:prstGeom prst="rect">
            <a:avLst/>
          </a:prstGeom>
          <a:noFill/>
        </p:spPr>
        <p:txBody>
          <a:bodyPr wrap="square" rtlCol="0">
            <a:spAutoFit/>
          </a:bodyPr>
          <a:lstStyle/>
          <a:p>
            <a:r>
              <a:rPr lang="en-CA" sz="4400" b="1" dirty="0">
                <a:solidFill>
                  <a:schemeClr val="bg1"/>
                </a:solidFill>
                <a:latin typeface="Poppins" panose="00000500000000000000" pitchFamily="2" charset="0"/>
                <a:cs typeface="Poppins" panose="00000500000000000000" pitchFamily="2" charset="0"/>
              </a:rPr>
              <a:t>27.23%</a:t>
            </a:r>
          </a:p>
        </p:txBody>
      </p:sp>
      <p:sp>
        <p:nvSpPr>
          <p:cNvPr id="28" name="AutoShape 20">
            <a:extLst>
              <a:ext uri="{FF2B5EF4-FFF2-40B4-BE49-F238E27FC236}">
                <a16:creationId xmlns:a16="http://schemas.microsoft.com/office/drawing/2014/main" id="{D0FE0BE8-1DFD-0D0A-5859-1B90FDEA83CF}"/>
              </a:ext>
            </a:extLst>
          </p:cNvPr>
          <p:cNvSpPr/>
          <p:nvPr/>
        </p:nvSpPr>
        <p:spPr>
          <a:xfrm flipV="1">
            <a:off x="4267200" y="7479119"/>
            <a:ext cx="0" cy="1977125"/>
          </a:xfrm>
          <a:prstGeom prst="line">
            <a:avLst/>
          </a:prstGeom>
          <a:ln w="38100" cap="flat">
            <a:solidFill>
              <a:srgbClr val="FFFFFF"/>
            </a:solidFill>
            <a:prstDash val="solid"/>
            <a:headEnd type="none" w="sm" len="sm"/>
            <a:tailEnd type="none" w="sm" len="sm"/>
          </a:ln>
        </p:spPr>
        <p:txBody>
          <a:bodyPr/>
          <a:lstStyle/>
          <a:p>
            <a:endParaRPr lang="en-CA" dirty="0">
              <a:cs typeface="Poppins" panose="00000500000000000000" pitchFamily="2" charset="0"/>
            </a:endParaRPr>
          </a:p>
        </p:txBody>
      </p:sp>
      <p:sp>
        <p:nvSpPr>
          <p:cNvPr id="29" name="AutoShape 20">
            <a:extLst>
              <a:ext uri="{FF2B5EF4-FFF2-40B4-BE49-F238E27FC236}">
                <a16:creationId xmlns:a16="http://schemas.microsoft.com/office/drawing/2014/main" id="{483667BC-35D6-463A-AB7F-A13140817D8A}"/>
              </a:ext>
            </a:extLst>
          </p:cNvPr>
          <p:cNvSpPr/>
          <p:nvPr/>
        </p:nvSpPr>
        <p:spPr>
          <a:xfrm flipV="1">
            <a:off x="9829800" y="7479119"/>
            <a:ext cx="0" cy="1977125"/>
          </a:xfrm>
          <a:prstGeom prst="line">
            <a:avLst/>
          </a:prstGeom>
          <a:ln w="38100" cap="flat">
            <a:solidFill>
              <a:srgbClr val="FFFFFF"/>
            </a:solidFill>
            <a:prstDash val="solid"/>
            <a:headEnd type="none" w="sm" len="sm"/>
            <a:tailEnd type="none" w="sm" len="sm"/>
          </a:ln>
        </p:spPr>
        <p:txBody>
          <a:bodyPr/>
          <a:lstStyle/>
          <a:p>
            <a:endParaRPr lang="en-CA" dirty="0">
              <a:cs typeface="Poppins" panose="00000500000000000000" pitchFamily="2" charset="0"/>
            </a:endParaRPr>
          </a:p>
        </p:txBody>
      </p:sp>
      <p:sp>
        <p:nvSpPr>
          <p:cNvPr id="30" name="TextBox 29">
            <a:extLst>
              <a:ext uri="{FF2B5EF4-FFF2-40B4-BE49-F238E27FC236}">
                <a16:creationId xmlns:a16="http://schemas.microsoft.com/office/drawing/2014/main" id="{C034DBE2-AE89-A18C-66D0-E29EB8E038C1}"/>
              </a:ext>
            </a:extLst>
          </p:cNvPr>
          <p:cNvSpPr txBox="1"/>
          <p:nvPr/>
        </p:nvSpPr>
        <p:spPr>
          <a:xfrm>
            <a:off x="953453" y="8579941"/>
            <a:ext cx="2899408" cy="707886"/>
          </a:xfrm>
          <a:prstGeom prst="rect">
            <a:avLst/>
          </a:prstGeom>
          <a:noFill/>
        </p:spPr>
        <p:txBody>
          <a:bodyPr wrap="square" rtlCol="0">
            <a:spAutoFit/>
          </a:bodyPr>
          <a:lstStyle/>
          <a:p>
            <a:r>
              <a:rPr lang="en-CA" sz="2000" dirty="0">
                <a:solidFill>
                  <a:schemeClr val="bg1"/>
                </a:solidFill>
              </a:rPr>
              <a:t>increase in parcel volume at 2020 peak season</a:t>
            </a:r>
          </a:p>
        </p:txBody>
      </p:sp>
      <p:sp>
        <p:nvSpPr>
          <p:cNvPr id="32" name="TextBox 31">
            <a:extLst>
              <a:ext uri="{FF2B5EF4-FFF2-40B4-BE49-F238E27FC236}">
                <a16:creationId xmlns:a16="http://schemas.microsoft.com/office/drawing/2014/main" id="{A53625CC-4962-A927-24E9-979846057103}"/>
              </a:ext>
            </a:extLst>
          </p:cNvPr>
          <p:cNvSpPr txBox="1"/>
          <p:nvPr/>
        </p:nvSpPr>
        <p:spPr>
          <a:xfrm>
            <a:off x="10210791" y="7494561"/>
            <a:ext cx="7391406" cy="1785104"/>
          </a:xfrm>
          <a:prstGeom prst="rect">
            <a:avLst/>
          </a:prstGeom>
          <a:noFill/>
        </p:spPr>
        <p:txBody>
          <a:bodyPr wrap="square">
            <a:spAutoFit/>
          </a:bodyPr>
          <a:lstStyle/>
          <a:p>
            <a:pPr marL="342900" indent="-342900">
              <a:buFont typeface="Wingdings" panose="05000000000000000000" pitchFamily="2" charset="2"/>
              <a:buChar char="§"/>
            </a:pPr>
            <a:r>
              <a:rPr lang="en-CA" sz="2200" b="1" dirty="0">
                <a:solidFill>
                  <a:schemeClr val="bg1"/>
                </a:solidFill>
              </a:rPr>
              <a:t>Pre-peak weeks (40–47): </a:t>
            </a:r>
            <a:r>
              <a:rPr lang="en-US" sz="2200" dirty="0">
                <a:solidFill>
                  <a:schemeClr val="bg1"/>
                </a:solidFill>
              </a:rPr>
              <a:t>In 2020, there's a steady increase in parcel volume, whereas 2019 shows a more stable trend</a:t>
            </a:r>
            <a:r>
              <a:rPr lang="en-CA" sz="2200" dirty="0">
                <a:solidFill>
                  <a:schemeClr val="bg1"/>
                </a:solidFill>
              </a:rPr>
              <a:t>.</a:t>
            </a:r>
          </a:p>
          <a:p>
            <a:pPr marL="342900" indent="-342900">
              <a:buFont typeface="Wingdings" panose="05000000000000000000" pitchFamily="2" charset="2"/>
              <a:buChar char="§"/>
            </a:pPr>
            <a:r>
              <a:rPr lang="en-CA" sz="2200" b="1" dirty="0">
                <a:solidFill>
                  <a:schemeClr val="bg1"/>
                </a:solidFill>
              </a:rPr>
              <a:t>Peak period: </a:t>
            </a:r>
            <a:r>
              <a:rPr lang="en-CA" sz="2200" dirty="0">
                <a:solidFill>
                  <a:schemeClr val="bg1"/>
                </a:solidFill>
              </a:rPr>
              <a:t>Both years see a sharp rise in parcel volumes.</a:t>
            </a:r>
          </a:p>
          <a:p>
            <a:pPr marL="342900" indent="-342900">
              <a:buFont typeface="Wingdings" panose="05000000000000000000" pitchFamily="2" charset="2"/>
              <a:buChar char="§"/>
            </a:pPr>
            <a:r>
              <a:rPr lang="en-CA" sz="2200" b="1" dirty="0">
                <a:solidFill>
                  <a:schemeClr val="bg1"/>
                </a:solidFill>
              </a:rPr>
              <a:t>Post-peak: </a:t>
            </a:r>
            <a:r>
              <a:rPr lang="en-CA" sz="2200" dirty="0">
                <a:solidFill>
                  <a:schemeClr val="bg1"/>
                </a:solidFill>
              </a:rPr>
              <a:t>Volumes drop steeply in both years, but 2020 remains slightly higher than 2019.</a:t>
            </a:r>
          </a:p>
        </p:txBody>
      </p:sp>
      <p:pic>
        <p:nvPicPr>
          <p:cNvPr id="39" name="Picture 38" descr="A graph of a graph showing the number of seasons&#10;&#10;Description automatically generated with medium confidence">
            <a:extLst>
              <a:ext uri="{FF2B5EF4-FFF2-40B4-BE49-F238E27FC236}">
                <a16:creationId xmlns:a16="http://schemas.microsoft.com/office/drawing/2014/main" id="{2E1FC5A0-8F0B-AD18-69EF-7E0DD1FD84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44094" y="1257922"/>
            <a:ext cx="7790529" cy="5472750"/>
          </a:xfrm>
          <a:prstGeom prst="rect">
            <a:avLst/>
          </a:prstGeom>
        </p:spPr>
      </p:pic>
      <p:sp>
        <p:nvSpPr>
          <p:cNvPr id="41" name="Slide Number Placeholder 18">
            <a:extLst>
              <a:ext uri="{FF2B5EF4-FFF2-40B4-BE49-F238E27FC236}">
                <a16:creationId xmlns:a16="http://schemas.microsoft.com/office/drawing/2014/main" id="{4AB9962C-0A80-2099-5B32-3E38D8DC05A3}"/>
              </a:ext>
            </a:extLst>
          </p:cNvPr>
          <p:cNvSpPr txBox="1">
            <a:spLocks/>
          </p:cNvSpPr>
          <p:nvPr/>
        </p:nvSpPr>
        <p:spPr>
          <a:xfrm>
            <a:off x="5860713" y="9817089"/>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000" b="1" smtClean="0">
                <a:solidFill>
                  <a:srgbClr val="000B5D"/>
                </a:solidFill>
              </a:rPr>
              <a:pPr/>
              <a:t>6</a:t>
            </a:fld>
            <a:endParaRPr lang="en-US" sz="2000" b="1" dirty="0">
              <a:solidFill>
                <a:srgbClr val="000B5D"/>
              </a:solidFill>
            </a:endParaRPr>
          </a:p>
        </p:txBody>
      </p:sp>
    </p:spTree>
    <p:extLst>
      <p:ext uri="{BB962C8B-B14F-4D97-AF65-F5344CB8AC3E}">
        <p14:creationId xmlns:p14="http://schemas.microsoft.com/office/powerpoint/2010/main" val="2303759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8377C"/>
        </a:solidFill>
        <a:effectLst/>
      </p:bgPr>
    </p:bg>
    <p:spTree>
      <p:nvGrpSpPr>
        <p:cNvPr id="1" name="">
          <a:extLst>
            <a:ext uri="{FF2B5EF4-FFF2-40B4-BE49-F238E27FC236}">
              <a16:creationId xmlns:a16="http://schemas.microsoft.com/office/drawing/2014/main" id="{05C9DD32-58FD-D464-29AE-0075E13646A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348DDCB-0E00-350E-2A76-0A669CEC0D57}"/>
              </a:ext>
            </a:extLst>
          </p:cNvPr>
          <p:cNvGrpSpPr/>
          <p:nvPr/>
        </p:nvGrpSpPr>
        <p:grpSpPr>
          <a:xfrm>
            <a:off x="462830" y="2241682"/>
            <a:ext cx="12052095" cy="5803636"/>
            <a:chOff x="0" y="0"/>
            <a:chExt cx="2410883" cy="2425237"/>
          </a:xfrm>
        </p:grpSpPr>
        <p:sp>
          <p:nvSpPr>
            <p:cNvPr id="3" name="Freeform 3">
              <a:extLst>
                <a:ext uri="{FF2B5EF4-FFF2-40B4-BE49-F238E27FC236}">
                  <a16:creationId xmlns:a16="http://schemas.microsoft.com/office/drawing/2014/main" id="{7B3F5A7E-94C1-5C03-A10F-0623883BE46F}"/>
                </a:ext>
              </a:extLst>
            </p:cNvPr>
            <p:cNvSpPr/>
            <p:nvPr/>
          </p:nvSpPr>
          <p:spPr>
            <a:xfrm>
              <a:off x="0" y="0"/>
              <a:ext cx="2410883" cy="2425237"/>
            </a:xfrm>
            <a:custGeom>
              <a:avLst/>
              <a:gdLst/>
              <a:ahLst/>
              <a:cxnLst/>
              <a:rect l="l" t="t" r="r" b="b"/>
              <a:pathLst>
                <a:path w="2410883" h="2425237">
                  <a:moveTo>
                    <a:pt x="0" y="0"/>
                  </a:moveTo>
                  <a:lnTo>
                    <a:pt x="2410883" y="0"/>
                  </a:lnTo>
                  <a:lnTo>
                    <a:pt x="2410883" y="2425237"/>
                  </a:lnTo>
                  <a:lnTo>
                    <a:pt x="0" y="2425237"/>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BC6BECE6-8214-2E2B-9B68-AAA77CFEBB1B}"/>
                </a:ext>
              </a:extLst>
            </p:cNvPr>
            <p:cNvSpPr txBox="1"/>
            <p:nvPr/>
          </p:nvSpPr>
          <p:spPr>
            <a:xfrm>
              <a:off x="0" y="-47625"/>
              <a:ext cx="2410883" cy="2472862"/>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9" name="TextBox 14">
            <a:extLst>
              <a:ext uri="{FF2B5EF4-FFF2-40B4-BE49-F238E27FC236}">
                <a16:creationId xmlns:a16="http://schemas.microsoft.com/office/drawing/2014/main" id="{09AB1E4E-2A85-80C9-5F11-E2A3616D590A}"/>
              </a:ext>
            </a:extLst>
          </p:cNvPr>
          <p:cNvSpPr txBox="1"/>
          <p:nvPr/>
        </p:nvSpPr>
        <p:spPr>
          <a:xfrm>
            <a:off x="545825" y="571500"/>
            <a:ext cx="14676120" cy="735073"/>
          </a:xfrm>
          <a:prstGeom prst="rect">
            <a:avLst/>
          </a:prstGeom>
        </p:spPr>
        <p:txBody>
          <a:bodyPr wrap="square" lIns="0" tIns="0" rIns="0" bIns="0" rtlCol="0" anchor="t">
            <a:spAutoFit/>
          </a:bodyPr>
          <a:lstStyle/>
          <a:p>
            <a:pPr marL="0" marR="0" lvl="0" indent="0" algn="l" defTabSz="914400" rtl="0" eaLnBrk="1" fontAlgn="auto" latinLnBrk="0" hangingPunct="1">
              <a:lnSpc>
                <a:spcPts val="5966"/>
              </a:lnSpc>
              <a:spcBef>
                <a:spcPct val="0"/>
              </a:spcBef>
              <a:spcAft>
                <a:spcPts val="0"/>
              </a:spcAft>
              <a:buClrTx/>
              <a:buSzTx/>
              <a:buFontTx/>
              <a:buNone/>
              <a:tabLst/>
              <a:defRPr/>
            </a:pPr>
            <a:r>
              <a:rPr lang="en-US" sz="4400" b="1" dirty="0">
                <a:solidFill>
                  <a:schemeClr val="bg1"/>
                </a:solidFill>
                <a:latin typeface="Poppins" panose="00000500000000000000" pitchFamily="2" charset="0"/>
                <a:cs typeface="Poppins" panose="00000500000000000000" pitchFamily="2" charset="0"/>
              </a:rPr>
              <a:t>Impact of COVID-19 on Customer Groups</a:t>
            </a:r>
            <a:endParaRPr kumimoji="0" lang="en-US" sz="4400" b="1" i="0" u="none" strike="noStrike" kern="1200" cap="none" spc="178" normalizeH="0" baseline="0" noProof="0" dirty="0">
              <a:ln>
                <a:noFill/>
              </a:ln>
              <a:solidFill>
                <a:schemeClr val="bg1"/>
              </a:solidFill>
              <a:effectLst/>
              <a:uLnTx/>
              <a:uFillTx/>
              <a:latin typeface="Poppins" panose="00000500000000000000" pitchFamily="2" charset="0"/>
              <a:ea typeface="Open Sans Extra Bold" panose="020B0604020202020204" charset="0"/>
              <a:cs typeface="Poppins" panose="00000500000000000000" pitchFamily="2" charset="0"/>
              <a:sym typeface="Montserrat Classic Bold"/>
            </a:endParaRPr>
          </a:p>
        </p:txBody>
      </p:sp>
      <p:sp>
        <p:nvSpPr>
          <p:cNvPr id="20" name="TextBox 6">
            <a:extLst>
              <a:ext uri="{FF2B5EF4-FFF2-40B4-BE49-F238E27FC236}">
                <a16:creationId xmlns:a16="http://schemas.microsoft.com/office/drawing/2014/main" id="{6CEB0C2A-2C5A-5EF3-1195-8AEBDE667F27}"/>
              </a:ext>
            </a:extLst>
          </p:cNvPr>
          <p:cNvSpPr txBox="1"/>
          <p:nvPr/>
        </p:nvSpPr>
        <p:spPr>
          <a:xfrm>
            <a:off x="12877800" y="2641236"/>
            <a:ext cx="4947370" cy="923330"/>
          </a:xfrm>
          <a:prstGeom prst="rect">
            <a:avLst/>
          </a:prstGeom>
        </p:spPr>
        <p:txBody>
          <a:bodyPr wrap="square" lIns="0" tIns="0" rIns="0" bIns="0" rtlCol="0" anchor="t">
            <a:spAutoFit/>
          </a:bodyPr>
          <a:lstStyle/>
          <a:p>
            <a:endParaRPr lang="en-US" sz="2000" dirty="0">
              <a:solidFill>
                <a:schemeClr val="bg1"/>
              </a:solidFill>
            </a:endParaRPr>
          </a:p>
          <a:p>
            <a:endParaRPr lang="en-US" sz="2000" dirty="0">
              <a:solidFill>
                <a:schemeClr val="bg1"/>
              </a:solidFill>
            </a:endParaRPr>
          </a:p>
          <a:p>
            <a:pPr>
              <a:buFont typeface="Arial" panose="020B0604020202020204" pitchFamily="34" charset="0"/>
              <a:buChar char="•"/>
            </a:pPr>
            <a:endParaRPr lang="en-US" sz="2000" dirty="0">
              <a:solidFill>
                <a:schemeClr val="bg1"/>
              </a:solidFill>
            </a:endParaRPr>
          </a:p>
        </p:txBody>
      </p:sp>
      <p:sp>
        <p:nvSpPr>
          <p:cNvPr id="27" name="TextBox 26">
            <a:extLst>
              <a:ext uri="{FF2B5EF4-FFF2-40B4-BE49-F238E27FC236}">
                <a16:creationId xmlns:a16="http://schemas.microsoft.com/office/drawing/2014/main" id="{9C596ACB-3A64-3BE1-098B-793734395113}"/>
              </a:ext>
            </a:extLst>
          </p:cNvPr>
          <p:cNvSpPr txBox="1"/>
          <p:nvPr/>
        </p:nvSpPr>
        <p:spPr>
          <a:xfrm>
            <a:off x="12877800" y="2127715"/>
            <a:ext cx="4718770" cy="5509200"/>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1" i="0" u="none" strike="noStrike" cap="none" normalizeH="0" baseline="0" dirty="0">
                <a:ln>
                  <a:noFill/>
                </a:ln>
                <a:solidFill>
                  <a:schemeClr val="bg1"/>
                </a:solidFill>
                <a:effectLst/>
              </a:rPr>
              <a:t>Enterprise group:</a:t>
            </a:r>
            <a:r>
              <a:rPr kumimoji="0" lang="en-US" altLang="en-US" sz="2200" b="0" i="0" u="none" strike="noStrike" cap="none" normalizeH="0" baseline="0" dirty="0">
                <a:ln>
                  <a:noFill/>
                </a:ln>
                <a:solidFill>
                  <a:schemeClr val="bg1"/>
                </a:solidFill>
                <a:effectLst/>
              </a:rPr>
              <a:t> Significant growth in parcel volumes, from </a:t>
            </a:r>
            <a:r>
              <a:rPr kumimoji="0" lang="en-US" altLang="en-US" sz="2200" b="1" i="0" u="none" strike="noStrike" cap="none" normalizeH="0" baseline="0" dirty="0">
                <a:ln>
                  <a:noFill/>
                </a:ln>
                <a:solidFill>
                  <a:schemeClr val="bg1"/>
                </a:solidFill>
                <a:effectLst/>
              </a:rPr>
              <a:t>7M</a:t>
            </a:r>
            <a:r>
              <a:rPr kumimoji="0" lang="en-US" altLang="en-US" sz="2200" b="0" i="0" u="none" strike="noStrike" cap="none" normalizeH="0" baseline="0" dirty="0">
                <a:ln>
                  <a:noFill/>
                </a:ln>
                <a:solidFill>
                  <a:schemeClr val="bg1"/>
                </a:solidFill>
                <a:effectLst/>
              </a:rPr>
              <a:t> (Pre-COVID) to </a:t>
            </a:r>
            <a:r>
              <a:rPr kumimoji="0" lang="en-US" altLang="en-US" sz="2200" b="1" i="0" u="none" strike="noStrike" cap="none" normalizeH="0" baseline="0" dirty="0">
                <a:ln>
                  <a:noFill/>
                </a:ln>
                <a:solidFill>
                  <a:schemeClr val="bg1"/>
                </a:solidFill>
                <a:effectLst/>
              </a:rPr>
              <a:t>48.3M</a:t>
            </a:r>
            <a:r>
              <a:rPr kumimoji="0" lang="en-US" altLang="en-US" sz="2200" b="0" i="0" u="none" strike="noStrike" cap="none" normalizeH="0" baseline="0" dirty="0">
                <a:ln>
                  <a:noFill/>
                </a:ln>
                <a:solidFill>
                  <a:schemeClr val="bg1"/>
                </a:solidFill>
                <a:effectLst/>
              </a:rPr>
              <a:t> (COVID).</a:t>
            </a:r>
          </a:p>
          <a:p>
            <a:pPr marR="0" lvl="0" algn="l" defTabSz="914400" rtl="0" eaLnBrk="0" fontAlgn="base" latinLnBrk="0" hangingPunct="0">
              <a:lnSpc>
                <a:spcPct val="100000"/>
              </a:lnSpc>
              <a:spcBef>
                <a:spcPct val="0"/>
              </a:spcBef>
              <a:spcAft>
                <a:spcPct val="0"/>
              </a:spcAft>
              <a:buClrTx/>
              <a:buSzTx/>
              <a:tabLst/>
            </a:pPr>
            <a:endParaRPr kumimoji="0" lang="en-US" altLang="en-US" sz="2200" b="0" i="0" u="none" strike="noStrike" cap="none" normalizeH="0" baseline="0" dirty="0">
              <a:ln>
                <a:noFill/>
              </a:ln>
              <a:solidFill>
                <a:schemeClr val="bg1"/>
              </a:solidFill>
              <a:effectLst/>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1" i="0" u="none" strike="noStrike" cap="none" normalizeH="0" baseline="0" dirty="0">
                <a:ln>
                  <a:noFill/>
                </a:ln>
                <a:solidFill>
                  <a:schemeClr val="bg1"/>
                </a:solidFill>
                <a:effectLst/>
              </a:rPr>
              <a:t>Large group:</a:t>
            </a:r>
            <a:r>
              <a:rPr kumimoji="0" lang="en-US" altLang="en-US" sz="2200" b="0" i="0" u="none" strike="noStrike" cap="none" normalizeH="0" baseline="0" dirty="0">
                <a:ln>
                  <a:noFill/>
                </a:ln>
                <a:solidFill>
                  <a:schemeClr val="bg1"/>
                </a:solidFill>
                <a:effectLst/>
              </a:rPr>
              <a:t> Increased volume, from </a:t>
            </a:r>
            <a:r>
              <a:rPr kumimoji="0" lang="en-US" altLang="en-US" sz="2200" b="1" i="0" u="none" strike="noStrike" cap="none" normalizeH="0" baseline="0" dirty="0">
                <a:ln>
                  <a:noFill/>
                </a:ln>
                <a:solidFill>
                  <a:schemeClr val="bg1"/>
                </a:solidFill>
                <a:effectLst/>
              </a:rPr>
              <a:t>3.44M</a:t>
            </a:r>
            <a:r>
              <a:rPr kumimoji="0" lang="en-US" altLang="en-US" sz="2200" b="0" i="0" u="none" strike="noStrike" cap="none" normalizeH="0" baseline="0" dirty="0">
                <a:ln>
                  <a:noFill/>
                </a:ln>
                <a:solidFill>
                  <a:schemeClr val="bg1"/>
                </a:solidFill>
                <a:effectLst/>
              </a:rPr>
              <a:t> (Pre-COVID) to </a:t>
            </a:r>
            <a:r>
              <a:rPr kumimoji="0" lang="en-US" altLang="en-US" sz="2200" b="1" i="0" u="none" strike="noStrike" cap="none" normalizeH="0" baseline="0" dirty="0">
                <a:ln>
                  <a:noFill/>
                </a:ln>
                <a:solidFill>
                  <a:schemeClr val="bg1"/>
                </a:solidFill>
                <a:effectLst/>
              </a:rPr>
              <a:t>6.31M</a:t>
            </a:r>
            <a:r>
              <a:rPr kumimoji="0" lang="en-US" altLang="en-US" sz="2200" b="0" i="0" u="none" strike="noStrike" cap="none" normalizeH="0" baseline="0" dirty="0">
                <a:ln>
                  <a:noFill/>
                </a:ln>
                <a:solidFill>
                  <a:schemeClr val="bg1"/>
                </a:solidFill>
                <a:effectLst/>
              </a:rPr>
              <a:t> (COVID).</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2200" b="0" i="0" u="none" strike="noStrike" cap="none" normalizeH="0" baseline="0" dirty="0">
              <a:ln>
                <a:noFill/>
              </a:ln>
              <a:solidFill>
                <a:schemeClr val="bg1"/>
              </a:solidFill>
              <a:effectLst/>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1" i="0" u="none" strike="noStrike" cap="none" normalizeH="0" baseline="0" dirty="0">
                <a:ln>
                  <a:noFill/>
                </a:ln>
                <a:solidFill>
                  <a:schemeClr val="bg1"/>
                </a:solidFill>
                <a:effectLst/>
              </a:rPr>
              <a:t>Medium group:</a:t>
            </a:r>
            <a:r>
              <a:rPr kumimoji="0" lang="en-US" altLang="en-US" sz="2200" b="0" i="0" u="none" strike="noStrike" cap="none" normalizeH="0" baseline="0" dirty="0">
                <a:ln>
                  <a:noFill/>
                </a:ln>
                <a:solidFill>
                  <a:schemeClr val="bg1"/>
                </a:solidFill>
                <a:effectLst/>
              </a:rPr>
              <a:t> Moderate growth, from </a:t>
            </a:r>
            <a:r>
              <a:rPr kumimoji="0" lang="en-US" altLang="en-US" sz="2200" b="1" i="0" u="none" strike="noStrike" cap="none" normalizeH="0" baseline="0" dirty="0">
                <a:ln>
                  <a:noFill/>
                </a:ln>
                <a:solidFill>
                  <a:schemeClr val="bg1"/>
                </a:solidFill>
                <a:effectLst/>
              </a:rPr>
              <a:t>5.01M</a:t>
            </a:r>
            <a:r>
              <a:rPr kumimoji="0" lang="en-US" altLang="en-US" sz="2200" b="0" i="0" u="none" strike="noStrike" cap="none" normalizeH="0" baseline="0" dirty="0">
                <a:ln>
                  <a:noFill/>
                </a:ln>
                <a:solidFill>
                  <a:schemeClr val="bg1"/>
                </a:solidFill>
                <a:effectLst/>
              </a:rPr>
              <a:t> (Pre-COVID) to </a:t>
            </a:r>
            <a:r>
              <a:rPr kumimoji="0" lang="en-US" altLang="en-US" sz="2200" b="1" i="0" u="none" strike="noStrike" cap="none" normalizeH="0" baseline="0" dirty="0">
                <a:ln>
                  <a:noFill/>
                </a:ln>
                <a:solidFill>
                  <a:schemeClr val="bg1"/>
                </a:solidFill>
                <a:effectLst/>
              </a:rPr>
              <a:t>6.99M</a:t>
            </a:r>
            <a:r>
              <a:rPr kumimoji="0" lang="en-US" altLang="en-US" sz="2200" b="0" i="0" u="none" strike="noStrike" cap="none" normalizeH="0" baseline="0" dirty="0">
                <a:ln>
                  <a:noFill/>
                </a:ln>
                <a:solidFill>
                  <a:schemeClr val="bg1"/>
                </a:solidFill>
                <a:effectLst/>
              </a:rPr>
              <a:t> (COVID).</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2200" b="0" i="0" u="none" strike="noStrike" cap="none" normalizeH="0" baseline="0" dirty="0">
              <a:ln>
                <a:noFill/>
              </a:ln>
              <a:solidFill>
                <a:schemeClr val="bg1"/>
              </a:solidFill>
              <a:effectLst/>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1" i="0" u="none" strike="noStrike" cap="none" normalizeH="0" baseline="0" dirty="0">
                <a:ln>
                  <a:noFill/>
                </a:ln>
                <a:solidFill>
                  <a:schemeClr val="bg1"/>
                </a:solidFill>
                <a:effectLst/>
              </a:rPr>
              <a:t>Small group:</a:t>
            </a:r>
            <a:r>
              <a:rPr kumimoji="0" lang="en-US" altLang="en-US" sz="2200" b="0" i="0" u="none" strike="noStrike" cap="none" normalizeH="0" baseline="0" dirty="0">
                <a:ln>
                  <a:noFill/>
                </a:ln>
                <a:solidFill>
                  <a:schemeClr val="bg1"/>
                </a:solidFill>
                <a:effectLst/>
              </a:rPr>
              <a:t> Moderate increase, from </a:t>
            </a:r>
            <a:r>
              <a:rPr lang="en-US" altLang="en-US" sz="2200" b="1" dirty="0">
                <a:solidFill>
                  <a:schemeClr val="bg1"/>
                </a:solidFill>
              </a:rPr>
              <a:t>2.09</a:t>
            </a:r>
            <a:r>
              <a:rPr kumimoji="0" lang="en-US" altLang="en-US" sz="2200" b="1" i="0" u="none" strike="noStrike" cap="none" normalizeH="0" baseline="0" dirty="0">
                <a:ln>
                  <a:noFill/>
                </a:ln>
                <a:solidFill>
                  <a:schemeClr val="bg1"/>
                </a:solidFill>
                <a:effectLst/>
              </a:rPr>
              <a:t>M</a:t>
            </a:r>
            <a:r>
              <a:rPr kumimoji="0" lang="en-US" altLang="en-US" sz="2200" b="0" i="0" u="none" strike="noStrike" cap="none" normalizeH="0" baseline="0" dirty="0">
                <a:ln>
                  <a:noFill/>
                </a:ln>
                <a:solidFill>
                  <a:schemeClr val="bg1"/>
                </a:solidFill>
                <a:effectLst/>
              </a:rPr>
              <a:t> (Pre-COVID) to </a:t>
            </a:r>
            <a:r>
              <a:rPr kumimoji="0" lang="en-US" altLang="en-US" sz="2200" b="1" i="0" u="none" strike="noStrike" cap="none" normalizeH="0" baseline="0" dirty="0">
                <a:ln>
                  <a:noFill/>
                </a:ln>
                <a:solidFill>
                  <a:schemeClr val="bg1"/>
                </a:solidFill>
                <a:effectLst/>
              </a:rPr>
              <a:t>2.17M</a:t>
            </a:r>
            <a:r>
              <a:rPr kumimoji="0" lang="en-US" altLang="en-US" sz="2200" b="0" i="0" u="none" strike="noStrike" cap="none" normalizeH="0" baseline="0" dirty="0">
                <a:ln>
                  <a:noFill/>
                </a:ln>
                <a:solidFill>
                  <a:schemeClr val="bg1"/>
                </a:solidFill>
                <a:effectLst/>
              </a:rPr>
              <a:t> (COVID).</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2200" b="0" i="0" u="none" strike="noStrike" cap="none" normalizeH="0" baseline="0" dirty="0">
              <a:ln>
                <a:noFill/>
              </a:ln>
              <a:solidFill>
                <a:schemeClr val="bg1"/>
              </a:solidFill>
              <a:effectLst/>
            </a:endParaRPr>
          </a:p>
        </p:txBody>
      </p:sp>
      <p:pic>
        <p:nvPicPr>
          <p:cNvPr id="29" name="Picture 28" descr="A screenshot of a computer screen&#10;&#10;Description automatically generated">
            <a:extLst>
              <a:ext uri="{FF2B5EF4-FFF2-40B4-BE49-F238E27FC236}">
                <a16:creationId xmlns:a16="http://schemas.microsoft.com/office/drawing/2014/main" id="{4A3E5475-3D2C-91BB-F8D0-3DC283668E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6670" y="2781300"/>
            <a:ext cx="11519412" cy="4889268"/>
          </a:xfrm>
          <a:prstGeom prst="rect">
            <a:avLst/>
          </a:prstGeom>
        </p:spPr>
      </p:pic>
      <p:sp>
        <p:nvSpPr>
          <p:cNvPr id="40" name="Slide Number Placeholder 39">
            <a:extLst>
              <a:ext uri="{FF2B5EF4-FFF2-40B4-BE49-F238E27FC236}">
                <a16:creationId xmlns:a16="http://schemas.microsoft.com/office/drawing/2014/main" id="{CD5492A8-3FB1-5293-8801-07DB852D4940}"/>
              </a:ext>
            </a:extLst>
          </p:cNvPr>
          <p:cNvSpPr txBox="1">
            <a:spLocks/>
          </p:cNvSpPr>
          <p:nvPr/>
        </p:nvSpPr>
        <p:spPr>
          <a:xfrm>
            <a:off x="7315200" y="9532937"/>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000" b="1" smtClean="0">
                <a:solidFill>
                  <a:schemeClr val="bg1"/>
                </a:solidFill>
              </a:rPr>
              <a:pPr/>
              <a:t>7</a:t>
            </a:fld>
            <a:endParaRPr lang="en-US" sz="2000" b="1" dirty="0">
              <a:solidFill>
                <a:schemeClr val="bg1"/>
              </a:solidFill>
            </a:endParaRPr>
          </a:p>
        </p:txBody>
      </p:sp>
    </p:spTree>
    <p:extLst>
      <p:ext uri="{BB962C8B-B14F-4D97-AF65-F5344CB8AC3E}">
        <p14:creationId xmlns:p14="http://schemas.microsoft.com/office/powerpoint/2010/main" val="2522217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D1CF7-E118-B60B-99CD-92BE8E6E5F1B}"/>
            </a:ext>
          </a:extLst>
        </p:cNvPr>
        <p:cNvGrpSpPr/>
        <p:nvPr/>
      </p:nvGrpSpPr>
      <p:grpSpPr>
        <a:xfrm>
          <a:off x="0" y="0"/>
          <a:ext cx="0" cy="0"/>
          <a:chOff x="0" y="0"/>
          <a:chExt cx="0" cy="0"/>
        </a:xfrm>
      </p:grpSpPr>
      <p:sp>
        <p:nvSpPr>
          <p:cNvPr id="25" name="Rectangle 2">
            <a:extLst>
              <a:ext uri="{FF2B5EF4-FFF2-40B4-BE49-F238E27FC236}">
                <a16:creationId xmlns:a16="http://schemas.microsoft.com/office/drawing/2014/main" id="{6AE86703-D2EE-B0CE-CEE0-9B62FF3F8DD5}"/>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 name="Rectangle 2">
            <a:extLst>
              <a:ext uri="{FF2B5EF4-FFF2-40B4-BE49-F238E27FC236}">
                <a16:creationId xmlns:a16="http://schemas.microsoft.com/office/drawing/2014/main" id="{62D0711F-F646-08F4-754F-7CA2550C18AD}"/>
              </a:ext>
            </a:extLst>
          </p:cNvPr>
          <p:cNvSpPr>
            <a:spLocks noChangeArrowheads="1"/>
          </p:cNvSpPr>
          <p:nvPr/>
        </p:nvSpPr>
        <p:spPr bwMode="auto">
          <a:xfrm>
            <a:off x="152400" y="-322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2" name="TextBox 31">
            <a:extLst>
              <a:ext uri="{FF2B5EF4-FFF2-40B4-BE49-F238E27FC236}">
                <a16:creationId xmlns:a16="http://schemas.microsoft.com/office/drawing/2014/main" id="{721A3D58-D781-ED9F-3E70-6D7DCBACAB75}"/>
              </a:ext>
            </a:extLst>
          </p:cNvPr>
          <p:cNvSpPr txBox="1"/>
          <p:nvPr/>
        </p:nvSpPr>
        <p:spPr>
          <a:xfrm>
            <a:off x="838200" y="607308"/>
            <a:ext cx="16210192" cy="1446550"/>
          </a:xfrm>
          <a:prstGeom prst="rect">
            <a:avLst/>
          </a:prstGeom>
          <a:noFill/>
        </p:spPr>
        <p:txBody>
          <a:bodyPr wrap="square" rtlCol="0">
            <a:spAutoFit/>
          </a:bodyPr>
          <a:lstStyle/>
          <a:p>
            <a:r>
              <a:rPr lang="en-US" sz="4400" b="1" dirty="0">
                <a:solidFill>
                  <a:schemeClr val="tx2"/>
                </a:solidFill>
                <a:latin typeface="Poppins" panose="00000500000000000000" pitchFamily="2" charset="0"/>
                <a:cs typeface="Poppins" panose="00000500000000000000" pitchFamily="2" charset="0"/>
              </a:rPr>
              <a:t>Customer Group Growth Distribution During COVID Period</a:t>
            </a:r>
            <a:endParaRPr lang="en-CA" sz="4400" b="1" dirty="0">
              <a:solidFill>
                <a:schemeClr val="tx2"/>
              </a:solidFill>
              <a:latin typeface="Poppins" panose="00000500000000000000" pitchFamily="2" charset="0"/>
              <a:cs typeface="Poppins" panose="00000500000000000000" pitchFamily="2" charset="0"/>
            </a:endParaRPr>
          </a:p>
        </p:txBody>
      </p:sp>
      <p:sp>
        <p:nvSpPr>
          <p:cNvPr id="33" name="TextBox 32">
            <a:extLst>
              <a:ext uri="{FF2B5EF4-FFF2-40B4-BE49-F238E27FC236}">
                <a16:creationId xmlns:a16="http://schemas.microsoft.com/office/drawing/2014/main" id="{6B200369-044F-6694-8822-7D5900E76F2C}"/>
              </a:ext>
            </a:extLst>
          </p:cNvPr>
          <p:cNvSpPr txBox="1"/>
          <p:nvPr/>
        </p:nvSpPr>
        <p:spPr>
          <a:xfrm>
            <a:off x="12192000" y="2635109"/>
            <a:ext cx="5562600" cy="4924425"/>
          </a:xfrm>
          <a:prstGeom prst="rect">
            <a:avLst/>
          </a:prstGeom>
          <a:noFill/>
        </p:spPr>
        <p:txBody>
          <a:bodyPr wrap="square" rtlCol="0">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1" i="0" u="none" strike="noStrike" cap="none" normalizeH="0" baseline="0" dirty="0">
                <a:ln>
                  <a:noFill/>
                </a:ln>
                <a:solidFill>
                  <a:schemeClr val="tx1"/>
                </a:solidFill>
                <a:effectLst/>
              </a:rPr>
              <a:t>Large Group</a:t>
            </a:r>
            <a:r>
              <a:rPr kumimoji="0" lang="en-US" altLang="en-US" sz="2200" b="0" i="0" u="none" strike="noStrike" cap="none" normalizeH="0" baseline="0" dirty="0">
                <a:ln>
                  <a:noFill/>
                </a:ln>
                <a:solidFill>
                  <a:schemeClr val="tx1"/>
                </a:solidFill>
                <a:effectLst/>
              </a:rPr>
              <a:t>: </a:t>
            </a:r>
            <a:r>
              <a:rPr kumimoji="0" lang="en-US" altLang="en-US" sz="2400" b="1" i="0" u="none" strike="noStrike" cap="none" normalizeH="0" baseline="0" dirty="0">
                <a:ln>
                  <a:noFill/>
                </a:ln>
                <a:solidFill>
                  <a:srgbClr val="00B050"/>
                </a:solidFill>
                <a:effectLst/>
              </a:rPr>
              <a:t>59.1%</a:t>
            </a:r>
            <a:r>
              <a:rPr kumimoji="0" lang="en-US" altLang="en-US" sz="2400" b="0" i="0" u="none" strike="noStrike" cap="none" normalizeH="0" baseline="0" dirty="0">
                <a:ln>
                  <a:noFill/>
                </a:ln>
                <a:solidFill>
                  <a:srgbClr val="00B050"/>
                </a:solidFill>
                <a:effectLst/>
              </a:rPr>
              <a:t> </a:t>
            </a:r>
            <a:r>
              <a:rPr kumimoji="0" lang="en-US" altLang="en-US" sz="2200" b="0" i="0" u="none" strike="noStrike" cap="none" normalizeH="0" baseline="0" dirty="0">
                <a:ln>
                  <a:noFill/>
                </a:ln>
                <a:solidFill>
                  <a:schemeClr val="tx1"/>
                </a:solidFill>
                <a:effectLst/>
              </a:rPr>
              <a:t>are growing, leading all customer groups with strong growth momentum.</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22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1" i="0" u="none" strike="noStrike" cap="none" normalizeH="0" baseline="0" dirty="0">
                <a:ln>
                  <a:noFill/>
                </a:ln>
                <a:solidFill>
                  <a:schemeClr val="tx1"/>
                </a:solidFill>
                <a:effectLst/>
              </a:rPr>
              <a:t>Enterprise Group</a:t>
            </a:r>
            <a:r>
              <a:rPr kumimoji="0" lang="en-US" altLang="en-US" sz="2200" b="0" i="0" u="none" strike="noStrike" cap="none" normalizeH="0" baseline="0" dirty="0">
                <a:ln>
                  <a:noFill/>
                </a:ln>
                <a:solidFill>
                  <a:schemeClr val="tx1"/>
                </a:solidFill>
                <a:effectLst/>
              </a:rPr>
              <a:t>: Balanced performance, with </a:t>
            </a:r>
            <a:r>
              <a:rPr kumimoji="0" lang="en-US" altLang="en-US" sz="2400" b="1" i="0" u="none" strike="noStrike" cap="none" normalizeH="0" baseline="0" dirty="0">
                <a:ln>
                  <a:noFill/>
                </a:ln>
                <a:solidFill>
                  <a:srgbClr val="00B050"/>
                </a:solidFill>
                <a:effectLst/>
              </a:rPr>
              <a:t>50% </a:t>
            </a:r>
            <a:r>
              <a:rPr kumimoji="0" lang="en-US" altLang="en-US" sz="2200" b="1" i="0" u="none" strike="noStrike" cap="none" normalizeH="0" baseline="0" dirty="0">
                <a:ln>
                  <a:noFill/>
                </a:ln>
                <a:solidFill>
                  <a:schemeClr val="tx1"/>
                </a:solidFill>
                <a:effectLst/>
              </a:rPr>
              <a:t>growth</a:t>
            </a:r>
            <a:r>
              <a:rPr kumimoji="0" lang="en-US" altLang="en-US" sz="2200" b="0" i="0" u="none" strike="noStrike" cap="none" normalizeH="0" baseline="0" dirty="0">
                <a:ln>
                  <a:noFill/>
                </a:ln>
                <a:solidFill>
                  <a:schemeClr val="tx1"/>
                </a:solidFill>
                <a:effectLst/>
              </a:rPr>
              <a:t> despite some decline (35.7%).</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22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1" i="0" u="none" strike="noStrike" cap="none" normalizeH="0" baseline="0" dirty="0">
                <a:ln>
                  <a:noFill/>
                </a:ln>
                <a:solidFill>
                  <a:schemeClr val="tx1"/>
                </a:solidFill>
                <a:effectLst/>
              </a:rPr>
              <a:t>Medium Group</a:t>
            </a:r>
            <a:r>
              <a:rPr kumimoji="0" lang="en-US" altLang="en-US" sz="2200" b="0" i="0" u="none" strike="noStrike" cap="none" normalizeH="0" baseline="0" dirty="0">
                <a:ln>
                  <a:noFill/>
                </a:ln>
                <a:solidFill>
                  <a:schemeClr val="tx1"/>
                </a:solidFill>
                <a:effectLst/>
              </a:rPr>
              <a:t>: Consistent growth with </a:t>
            </a:r>
            <a:r>
              <a:rPr kumimoji="0" lang="en-US" altLang="en-US" sz="2400" b="1" i="0" u="none" strike="noStrike" cap="none" normalizeH="0" baseline="0" dirty="0">
                <a:ln>
                  <a:noFill/>
                </a:ln>
                <a:solidFill>
                  <a:srgbClr val="00B050"/>
                </a:solidFill>
                <a:effectLst/>
              </a:rPr>
              <a:t>56.8%</a:t>
            </a:r>
            <a:r>
              <a:rPr kumimoji="0" lang="en-US" altLang="en-US" sz="2400" b="0" i="0" u="none" strike="noStrike" cap="none" normalizeH="0" baseline="0" dirty="0">
                <a:ln>
                  <a:noFill/>
                </a:ln>
                <a:solidFill>
                  <a:srgbClr val="00B050"/>
                </a:solidFill>
                <a:effectLst/>
              </a:rPr>
              <a:t> </a:t>
            </a:r>
            <a:r>
              <a:rPr kumimoji="0" lang="en-US" altLang="en-US" sz="2200" b="0" i="0" u="none" strike="noStrike" cap="none" normalizeH="0" baseline="0" dirty="0">
                <a:ln>
                  <a:noFill/>
                </a:ln>
                <a:solidFill>
                  <a:schemeClr val="tx1"/>
                </a:solidFill>
                <a:effectLst/>
              </a:rPr>
              <a:t>growing customers.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22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1" i="0" u="none" strike="noStrike" cap="none" normalizeH="0" baseline="0" dirty="0">
                <a:ln>
                  <a:noFill/>
                </a:ln>
                <a:solidFill>
                  <a:schemeClr val="tx1"/>
                </a:solidFill>
                <a:effectLst/>
              </a:rPr>
              <a:t>Small Group</a:t>
            </a:r>
            <a:r>
              <a:rPr kumimoji="0" lang="en-US" altLang="en-US" sz="2200" b="0" i="0" u="none" strike="noStrike" cap="none" normalizeH="0" baseline="0" dirty="0">
                <a:ln>
                  <a:noFill/>
                </a:ln>
                <a:solidFill>
                  <a:schemeClr val="tx1"/>
                </a:solidFill>
                <a:effectLst/>
              </a:rPr>
              <a:t>: Promising growth with </a:t>
            </a:r>
            <a:r>
              <a:rPr lang="en-US" altLang="en-US" sz="2200" b="1" dirty="0"/>
              <a:t>36.8</a:t>
            </a:r>
            <a:r>
              <a:rPr kumimoji="0" lang="en-US" altLang="en-US" sz="2200" b="1" i="0" u="none" strike="noStrike" cap="none" normalizeH="0" baseline="0" dirty="0">
                <a:ln>
                  <a:noFill/>
                </a:ln>
                <a:solidFill>
                  <a:schemeClr val="tx1"/>
                </a:solidFill>
                <a:effectLst/>
              </a:rPr>
              <a:t>%</a:t>
            </a:r>
            <a:r>
              <a:rPr kumimoji="0" lang="en-US" altLang="en-US" sz="2200" b="0" i="0" u="none" strike="noStrike" cap="none" normalizeH="0" baseline="0" dirty="0">
                <a:ln>
                  <a:noFill/>
                </a:ln>
                <a:solidFill>
                  <a:schemeClr val="tx1"/>
                </a:solidFill>
                <a:effectLst/>
              </a:rPr>
              <a:t>, though challenges remain with </a:t>
            </a:r>
            <a:r>
              <a:rPr kumimoji="0" lang="en-US" altLang="en-US" sz="2200" b="1" i="0" u="none" strike="noStrike" cap="none" normalizeH="0" baseline="0" dirty="0">
                <a:ln>
                  <a:noFill/>
                </a:ln>
                <a:solidFill>
                  <a:schemeClr val="tx1"/>
                </a:solidFill>
                <a:effectLst/>
              </a:rPr>
              <a:t>52.5% declining</a:t>
            </a:r>
            <a:r>
              <a:rPr kumimoji="0" lang="en-US" altLang="en-US" sz="2200" b="0" i="0" u="none" strike="noStrike" cap="none" normalizeH="0" baseline="0" dirty="0">
                <a:ln>
                  <a:noFill/>
                </a:ln>
                <a:solidFill>
                  <a:schemeClr val="tx1"/>
                </a:solidFill>
                <a:effectLst/>
              </a:rPr>
              <a:t>.</a:t>
            </a:r>
          </a:p>
        </p:txBody>
      </p:sp>
      <p:sp>
        <p:nvSpPr>
          <p:cNvPr id="34" name="Rectangle 3">
            <a:extLst>
              <a:ext uri="{FF2B5EF4-FFF2-40B4-BE49-F238E27FC236}">
                <a16:creationId xmlns:a16="http://schemas.microsoft.com/office/drawing/2014/main" id="{920165F8-7A32-B96B-A3DC-6955ADB2E486}"/>
              </a:ext>
            </a:extLst>
          </p:cNvPr>
          <p:cNvSpPr>
            <a:spLocks noChangeArrowheads="1"/>
          </p:cNvSpPr>
          <p:nvPr/>
        </p:nvSpPr>
        <p:spPr bwMode="auto">
          <a:xfrm>
            <a:off x="9791700" y="3238500"/>
            <a:ext cx="10058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36" name="Picture 35" descr="A blue rectangular bars with white text&#10;&#10;Description automatically generated">
            <a:extLst>
              <a:ext uri="{FF2B5EF4-FFF2-40B4-BE49-F238E27FC236}">
                <a16:creationId xmlns:a16="http://schemas.microsoft.com/office/drawing/2014/main" id="{2BEBC453-146E-586A-244D-3B035B2350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408" y="2601120"/>
            <a:ext cx="12039600" cy="5084760"/>
          </a:xfrm>
          <a:prstGeom prst="rect">
            <a:avLst/>
          </a:prstGeom>
        </p:spPr>
      </p:pic>
      <p:sp>
        <p:nvSpPr>
          <p:cNvPr id="38" name="Slide Number Placeholder 29">
            <a:extLst>
              <a:ext uri="{FF2B5EF4-FFF2-40B4-BE49-F238E27FC236}">
                <a16:creationId xmlns:a16="http://schemas.microsoft.com/office/drawing/2014/main" id="{A124B5DB-EE6A-C00F-8E33-D2C578DCA49D}"/>
              </a:ext>
            </a:extLst>
          </p:cNvPr>
          <p:cNvSpPr txBox="1">
            <a:spLocks/>
          </p:cNvSpPr>
          <p:nvPr/>
        </p:nvSpPr>
        <p:spPr>
          <a:xfrm>
            <a:off x="7239000" y="9679692"/>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000" b="1" smtClean="0">
                <a:solidFill>
                  <a:schemeClr val="tx2"/>
                </a:solidFill>
              </a:rPr>
              <a:pPr/>
              <a:t>8</a:t>
            </a:fld>
            <a:endParaRPr lang="en-US" sz="2000" b="1" dirty="0">
              <a:solidFill>
                <a:schemeClr val="tx2"/>
              </a:solidFill>
            </a:endParaRPr>
          </a:p>
        </p:txBody>
      </p:sp>
    </p:spTree>
    <p:extLst>
      <p:ext uri="{BB962C8B-B14F-4D97-AF65-F5344CB8AC3E}">
        <p14:creationId xmlns:p14="http://schemas.microsoft.com/office/powerpoint/2010/main" val="473727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44C18-FF78-5987-2F63-3491E484722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69D5D52-E280-945E-8AD3-8C26FC534DA9}"/>
              </a:ext>
            </a:extLst>
          </p:cNvPr>
          <p:cNvSpPr/>
          <p:nvPr/>
        </p:nvSpPr>
        <p:spPr>
          <a:xfrm>
            <a:off x="894318" y="1714500"/>
            <a:ext cx="7890623" cy="5281824"/>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Rectangle 3">
            <a:extLst>
              <a:ext uri="{FF2B5EF4-FFF2-40B4-BE49-F238E27FC236}">
                <a16:creationId xmlns:a16="http://schemas.microsoft.com/office/drawing/2014/main" id="{0D209904-58BE-0964-8B7B-3151D9A2BDA2}"/>
              </a:ext>
            </a:extLst>
          </p:cNvPr>
          <p:cNvSpPr/>
          <p:nvPr/>
        </p:nvSpPr>
        <p:spPr>
          <a:xfrm>
            <a:off x="8991600" y="1714500"/>
            <a:ext cx="8058263" cy="5299686"/>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Rectangle: Rounded Corners 14">
            <a:extLst>
              <a:ext uri="{FF2B5EF4-FFF2-40B4-BE49-F238E27FC236}">
                <a16:creationId xmlns:a16="http://schemas.microsoft.com/office/drawing/2014/main" id="{CD6E19B9-6C1D-250F-DE6B-C7B4A41487A6}"/>
              </a:ext>
            </a:extLst>
          </p:cNvPr>
          <p:cNvSpPr/>
          <p:nvPr/>
        </p:nvSpPr>
        <p:spPr>
          <a:xfrm>
            <a:off x="792286" y="7241248"/>
            <a:ext cx="7890623" cy="2774317"/>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2000" dirty="0"/>
              <a:t>Both the Small and Medium customer groups were able to attract new customers during the pandemic, highlighting their agility and responsiveness to market changes.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lang="en-US" sz="2000" dirty="0"/>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2000" dirty="0"/>
              <a:t>The Large and Enterprise customer groups did not gain new customers, indicating that they may have focused more on retaining existing customers and stabilizing their operations rather than seeking new ones.</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17" name="TextBox 16">
            <a:extLst>
              <a:ext uri="{FF2B5EF4-FFF2-40B4-BE49-F238E27FC236}">
                <a16:creationId xmlns:a16="http://schemas.microsoft.com/office/drawing/2014/main" id="{8040C4B2-4190-ADAB-745A-9C68992E0340}"/>
              </a:ext>
            </a:extLst>
          </p:cNvPr>
          <p:cNvSpPr txBox="1"/>
          <p:nvPr/>
        </p:nvSpPr>
        <p:spPr>
          <a:xfrm>
            <a:off x="1011591" y="450410"/>
            <a:ext cx="16306800" cy="769441"/>
          </a:xfrm>
          <a:prstGeom prst="rect">
            <a:avLst/>
          </a:prstGeom>
          <a:noFill/>
        </p:spPr>
        <p:txBody>
          <a:bodyPr wrap="square" rtlCol="0">
            <a:spAutoFit/>
          </a:bodyPr>
          <a:lstStyle/>
          <a:p>
            <a:r>
              <a:rPr lang="en-US" sz="4400" b="1" dirty="0">
                <a:solidFill>
                  <a:srgbClr val="0A2D7A"/>
                </a:solidFill>
                <a:latin typeface="Poppins" panose="00000500000000000000" pitchFamily="2" charset="0"/>
                <a:cs typeface="Poppins" panose="00000500000000000000" pitchFamily="2" charset="0"/>
              </a:rPr>
              <a:t>New Customer Percentage and 2019 Loss During COVID</a:t>
            </a:r>
            <a:endParaRPr lang="en-CA" sz="4400" b="1" dirty="0">
              <a:solidFill>
                <a:srgbClr val="0A2D7A"/>
              </a:solidFill>
              <a:latin typeface="Poppins" panose="00000500000000000000" pitchFamily="2" charset="0"/>
              <a:cs typeface="Poppins" panose="00000500000000000000" pitchFamily="2" charset="0"/>
            </a:endParaRPr>
          </a:p>
        </p:txBody>
      </p:sp>
      <p:pic>
        <p:nvPicPr>
          <p:cNvPr id="7" name="Picture 6" descr="A graph of a customer group&#10;&#10;Description automatically generated with medium confidence">
            <a:extLst>
              <a:ext uri="{FF2B5EF4-FFF2-40B4-BE49-F238E27FC236}">
                <a16:creationId xmlns:a16="http://schemas.microsoft.com/office/drawing/2014/main" id="{908E7517-80BC-C3B3-8C7E-F571461608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1591" y="2080349"/>
            <a:ext cx="7471330" cy="4382448"/>
          </a:xfrm>
          <a:prstGeom prst="rect">
            <a:avLst/>
          </a:prstGeom>
        </p:spPr>
      </p:pic>
      <p:pic>
        <p:nvPicPr>
          <p:cNvPr id="11" name="Picture 10" descr="A graph with red squares&#10;&#10;Description automatically generated with medium confidence">
            <a:extLst>
              <a:ext uri="{FF2B5EF4-FFF2-40B4-BE49-F238E27FC236}">
                <a16:creationId xmlns:a16="http://schemas.microsoft.com/office/drawing/2014/main" id="{ECB4167D-12BA-C6E8-01F6-69FDC7D8B5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6041" y="2011791"/>
            <a:ext cx="7706539" cy="4519564"/>
          </a:xfrm>
          <a:prstGeom prst="rect">
            <a:avLst/>
          </a:prstGeom>
        </p:spPr>
      </p:pic>
      <p:sp>
        <p:nvSpPr>
          <p:cNvPr id="13" name="Rectangle: Rounded Corners 12">
            <a:extLst>
              <a:ext uri="{FF2B5EF4-FFF2-40B4-BE49-F238E27FC236}">
                <a16:creationId xmlns:a16="http://schemas.microsoft.com/office/drawing/2014/main" id="{9B0B8859-8FEB-D754-630B-B1FD69442374}"/>
              </a:ext>
            </a:extLst>
          </p:cNvPr>
          <p:cNvSpPr/>
          <p:nvPr/>
        </p:nvSpPr>
        <p:spPr>
          <a:xfrm>
            <a:off x="8991600" y="7241248"/>
            <a:ext cx="8025915" cy="2766697"/>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marL="285750" indent="-285750">
              <a:buFont typeface="Wingdings" panose="05000000000000000000" pitchFamily="2" charset="2"/>
              <a:buChar char="§"/>
            </a:pPr>
            <a:r>
              <a:rPr lang="en-US" sz="2000" dirty="0"/>
              <a:t>Larger businesses (Enterprise and Large groups) demonstrated strong customer retention during the pandemic, with no lost customers.</a:t>
            </a:r>
          </a:p>
          <a:p>
            <a:pPr marL="285750" indent="-285750">
              <a:buFont typeface="Wingdings" panose="05000000000000000000" pitchFamily="2" charset="2"/>
              <a:buChar char="§"/>
            </a:pPr>
            <a:endParaRPr lang="en-US" sz="2000" dirty="0"/>
          </a:p>
          <a:p>
            <a:pPr marL="285750" indent="-285750">
              <a:buFont typeface="Wingdings" panose="05000000000000000000" pitchFamily="2" charset="2"/>
              <a:buChar char="§"/>
            </a:pPr>
            <a:r>
              <a:rPr lang="en-US" sz="2000" dirty="0"/>
              <a:t>Smaller businesses were more affected, with a higher percentage of lost customers, indicating a need for targeted support to help them navigate challenges and maintain customer relationships.</a:t>
            </a:r>
            <a:endParaRPr lang="en-CA" sz="2000" dirty="0">
              <a:solidFill>
                <a:srgbClr val="3E95BE"/>
              </a:solidFill>
              <a:cs typeface="Poppins" panose="00000500000000000000" pitchFamily="2" charset="0"/>
            </a:endParaRPr>
          </a:p>
        </p:txBody>
      </p:sp>
      <p:sp>
        <p:nvSpPr>
          <p:cNvPr id="16" name="Slide Number Placeholder 15">
            <a:extLst>
              <a:ext uri="{FF2B5EF4-FFF2-40B4-BE49-F238E27FC236}">
                <a16:creationId xmlns:a16="http://schemas.microsoft.com/office/drawing/2014/main" id="{A14492A5-0269-CBEB-043D-E9DDAF507601}"/>
              </a:ext>
            </a:extLst>
          </p:cNvPr>
          <p:cNvSpPr>
            <a:spLocks noGrp="1"/>
          </p:cNvSpPr>
          <p:nvPr>
            <p:ph type="sldNum" sz="quarter" idx="12"/>
          </p:nvPr>
        </p:nvSpPr>
        <p:spPr>
          <a:xfrm>
            <a:off x="6858000" y="9877502"/>
            <a:ext cx="2133600" cy="365125"/>
          </a:xfrm>
        </p:spPr>
        <p:txBody>
          <a:bodyPr/>
          <a:lstStyle/>
          <a:p>
            <a:fld id="{B6F15528-21DE-4FAA-801E-634DDDAF4B2B}" type="slidenum">
              <a:rPr lang="en-US" sz="2000" b="1" smtClean="0">
                <a:solidFill>
                  <a:schemeClr val="tx2"/>
                </a:solidFill>
              </a:rPr>
              <a:pPr/>
              <a:t>9</a:t>
            </a:fld>
            <a:endParaRPr lang="en-US" sz="2000" b="1" dirty="0">
              <a:solidFill>
                <a:schemeClr val="tx2"/>
              </a:solidFill>
            </a:endParaRPr>
          </a:p>
        </p:txBody>
      </p:sp>
    </p:spTree>
    <p:extLst>
      <p:ext uri="{BB962C8B-B14F-4D97-AF65-F5344CB8AC3E}">
        <p14:creationId xmlns:p14="http://schemas.microsoft.com/office/powerpoint/2010/main" val="3987880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377C"/>
        </a:solidFill>
        <a:effectLst/>
      </p:bgPr>
    </p:bg>
    <p:spTree>
      <p:nvGrpSpPr>
        <p:cNvPr id="1" name=""/>
        <p:cNvGrpSpPr/>
        <p:nvPr/>
      </p:nvGrpSpPr>
      <p:grpSpPr>
        <a:xfrm>
          <a:off x="0" y="0"/>
          <a:ext cx="0" cy="0"/>
          <a:chOff x="0" y="0"/>
          <a:chExt cx="0" cy="0"/>
        </a:xfrm>
      </p:grpSpPr>
      <p:sp>
        <p:nvSpPr>
          <p:cNvPr id="14" name="TextBox 14"/>
          <p:cNvSpPr txBox="1"/>
          <p:nvPr/>
        </p:nvSpPr>
        <p:spPr>
          <a:xfrm>
            <a:off x="685800" y="813357"/>
            <a:ext cx="14682934" cy="735073"/>
          </a:xfrm>
          <a:prstGeom prst="rect">
            <a:avLst/>
          </a:prstGeom>
        </p:spPr>
        <p:txBody>
          <a:bodyPr wrap="square" lIns="0" tIns="0" rIns="0" bIns="0" rtlCol="0" anchor="t">
            <a:spAutoFit/>
          </a:bodyPr>
          <a:lstStyle/>
          <a:p>
            <a:pPr marL="0" lvl="0" indent="0" algn="l">
              <a:lnSpc>
                <a:spcPts val="5966"/>
              </a:lnSpc>
              <a:spcBef>
                <a:spcPct val="0"/>
              </a:spcBef>
            </a:pPr>
            <a:r>
              <a:rPr lang="en-US" sz="4400" b="1" spc="178" dirty="0">
                <a:solidFill>
                  <a:srgbClr val="FFFFFF"/>
                </a:solidFill>
                <a:latin typeface="Poppins" panose="00000500000000000000" pitchFamily="2" charset="0"/>
                <a:ea typeface="Montserrat Classic Bold"/>
                <a:cs typeface="Poppins" panose="00000500000000000000" pitchFamily="2" charset="0"/>
                <a:sym typeface="Montserrat Classic Bold"/>
              </a:rPr>
              <a:t>Covid Impact on Revenue by Customer Group</a:t>
            </a:r>
          </a:p>
        </p:txBody>
      </p:sp>
      <p:sp>
        <p:nvSpPr>
          <p:cNvPr id="18" name="TextBox 17">
            <a:extLst>
              <a:ext uri="{FF2B5EF4-FFF2-40B4-BE49-F238E27FC236}">
                <a16:creationId xmlns:a16="http://schemas.microsoft.com/office/drawing/2014/main" id="{76FD2025-730D-BEE3-AE50-77B8461FDD0B}"/>
              </a:ext>
            </a:extLst>
          </p:cNvPr>
          <p:cNvSpPr txBox="1"/>
          <p:nvPr/>
        </p:nvSpPr>
        <p:spPr>
          <a:xfrm>
            <a:off x="11353800" y="3281452"/>
            <a:ext cx="7186466" cy="3724096"/>
          </a:xfrm>
          <a:prstGeom prst="rect">
            <a:avLst/>
          </a:prstGeom>
          <a:noFill/>
        </p:spPr>
        <p:txBody>
          <a:bodyPr wrap="square" rtlCol="0">
            <a:spAutoFit/>
          </a:bodyPr>
          <a:lstStyle/>
          <a:p>
            <a:pPr marL="342900" indent="-342900">
              <a:buFont typeface="Wingdings" panose="05000000000000000000" pitchFamily="2" charset="2"/>
              <a:buChar char="§"/>
            </a:pPr>
            <a:r>
              <a:rPr lang="en-US" sz="2400" b="1" dirty="0">
                <a:solidFill>
                  <a:schemeClr val="bg1"/>
                </a:solidFill>
              </a:rPr>
              <a:t>Small &amp; Medium Groups</a:t>
            </a:r>
            <a:r>
              <a:rPr lang="en-US" sz="2400" dirty="0">
                <a:solidFill>
                  <a:schemeClr val="bg1"/>
                </a:solidFill>
              </a:rPr>
              <a:t>: Attracted 2.1% new customers, showing agility.</a:t>
            </a:r>
          </a:p>
          <a:p>
            <a:endParaRPr lang="en-US" sz="2400" dirty="0">
              <a:solidFill>
                <a:schemeClr val="bg1"/>
              </a:solidFill>
            </a:endParaRPr>
          </a:p>
          <a:p>
            <a:pPr marL="342900" indent="-342900">
              <a:buFont typeface="Wingdings" panose="05000000000000000000" pitchFamily="2" charset="2"/>
              <a:buChar char="§"/>
            </a:pPr>
            <a:r>
              <a:rPr lang="en-US" sz="2400" b="1" dirty="0">
                <a:solidFill>
                  <a:schemeClr val="bg1"/>
                </a:solidFill>
              </a:rPr>
              <a:t>Large &amp; Enterprise Groups</a:t>
            </a:r>
            <a:r>
              <a:rPr lang="en-US" sz="2400" dirty="0">
                <a:solidFill>
                  <a:schemeClr val="bg1"/>
                </a:solidFill>
              </a:rPr>
              <a:t>: No new customers, focused on retaining existing ones.</a:t>
            </a:r>
          </a:p>
          <a:p>
            <a:endParaRPr lang="en-US" sz="2400" dirty="0">
              <a:solidFill>
                <a:schemeClr val="bg1"/>
              </a:solidFill>
            </a:endParaRPr>
          </a:p>
          <a:p>
            <a:pPr marL="342900" indent="-342900">
              <a:buFont typeface="Wingdings" panose="05000000000000000000" pitchFamily="2" charset="2"/>
              <a:buChar char="§"/>
            </a:pPr>
            <a:r>
              <a:rPr lang="en-US" sz="2400" b="1" dirty="0">
                <a:solidFill>
                  <a:schemeClr val="bg1"/>
                </a:solidFill>
              </a:rPr>
              <a:t>Overall Insight</a:t>
            </a:r>
            <a:r>
              <a:rPr lang="en-US" sz="2400" dirty="0">
                <a:solidFill>
                  <a:schemeClr val="bg1"/>
                </a:solidFill>
              </a:rPr>
              <a:t>: Smaller businesses were more successful in acquiring new customers during the pandemic.</a:t>
            </a:r>
          </a:p>
          <a:p>
            <a:endParaRPr lang="en-CA" sz="2000" dirty="0">
              <a:solidFill>
                <a:schemeClr val="bg1"/>
              </a:solidFill>
            </a:endParaRPr>
          </a:p>
        </p:txBody>
      </p:sp>
      <p:pic>
        <p:nvPicPr>
          <p:cNvPr id="20" name="Picture 19" descr="A graph of a number of people&#10;&#10;Description automatically generated">
            <a:extLst>
              <a:ext uri="{FF2B5EF4-FFF2-40B4-BE49-F238E27FC236}">
                <a16:creationId xmlns:a16="http://schemas.microsoft.com/office/drawing/2014/main" id="{D833F087-1589-4189-B059-305DB597ED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393" y="2207493"/>
            <a:ext cx="10716808" cy="6393243"/>
          </a:xfrm>
          <a:prstGeom prst="rect">
            <a:avLst/>
          </a:prstGeom>
        </p:spPr>
      </p:pic>
      <p:sp>
        <p:nvSpPr>
          <p:cNvPr id="37" name="Slide Number Placeholder 36">
            <a:extLst>
              <a:ext uri="{FF2B5EF4-FFF2-40B4-BE49-F238E27FC236}">
                <a16:creationId xmlns:a16="http://schemas.microsoft.com/office/drawing/2014/main" id="{C91FBB5B-4001-83BB-30C1-498D245A4E8A}"/>
              </a:ext>
            </a:extLst>
          </p:cNvPr>
          <p:cNvSpPr txBox="1">
            <a:spLocks/>
          </p:cNvSpPr>
          <p:nvPr/>
        </p:nvSpPr>
        <p:spPr>
          <a:xfrm>
            <a:off x="7391400" y="97155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000" b="1" smtClean="0">
                <a:solidFill>
                  <a:schemeClr val="bg1"/>
                </a:solidFill>
              </a:rPr>
              <a:pPr/>
              <a:t>10</a:t>
            </a:fld>
            <a:endParaRPr lang="en-US" sz="2000" b="1"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8377C"/>
        </a:solidFill>
        <a:effectLst/>
      </p:bgPr>
    </p:bg>
    <p:spTree>
      <p:nvGrpSpPr>
        <p:cNvPr id="1" name="">
          <a:extLst>
            <a:ext uri="{FF2B5EF4-FFF2-40B4-BE49-F238E27FC236}">
              <a16:creationId xmlns:a16="http://schemas.microsoft.com/office/drawing/2014/main" id="{73E788E6-6C9A-EA14-6408-8311AF6F46A3}"/>
            </a:ext>
          </a:extLst>
        </p:cNvPr>
        <p:cNvGrpSpPr/>
        <p:nvPr/>
      </p:nvGrpSpPr>
      <p:grpSpPr>
        <a:xfrm>
          <a:off x="0" y="0"/>
          <a:ext cx="0" cy="0"/>
          <a:chOff x="0" y="0"/>
          <a:chExt cx="0" cy="0"/>
        </a:xfrm>
      </p:grpSpPr>
      <p:sp>
        <p:nvSpPr>
          <p:cNvPr id="14" name="TextBox 14">
            <a:extLst>
              <a:ext uri="{FF2B5EF4-FFF2-40B4-BE49-F238E27FC236}">
                <a16:creationId xmlns:a16="http://schemas.microsoft.com/office/drawing/2014/main" id="{DA158507-B5F9-C2D8-BB7C-A12558281E1B}"/>
              </a:ext>
            </a:extLst>
          </p:cNvPr>
          <p:cNvSpPr txBox="1"/>
          <p:nvPr/>
        </p:nvSpPr>
        <p:spPr>
          <a:xfrm>
            <a:off x="838200" y="723900"/>
            <a:ext cx="16383000" cy="735073"/>
          </a:xfrm>
          <a:prstGeom prst="rect">
            <a:avLst/>
          </a:prstGeom>
        </p:spPr>
        <p:txBody>
          <a:bodyPr wrap="square" lIns="0" tIns="0" rIns="0" bIns="0" rtlCol="0" anchor="t">
            <a:spAutoFit/>
          </a:bodyPr>
          <a:lstStyle/>
          <a:p>
            <a:pPr marL="0" lvl="0" indent="0" algn="l">
              <a:lnSpc>
                <a:spcPts val="5966"/>
              </a:lnSpc>
              <a:spcBef>
                <a:spcPct val="0"/>
              </a:spcBef>
            </a:pPr>
            <a:r>
              <a:rPr lang="en-US" sz="4400" b="1" spc="178" dirty="0">
                <a:solidFill>
                  <a:srgbClr val="FFFFFF"/>
                </a:solidFill>
                <a:latin typeface="Poppins" panose="00000500000000000000" pitchFamily="2" charset="0"/>
                <a:ea typeface="Montserrat Classic Bold"/>
                <a:cs typeface="Poppins" panose="00000500000000000000" pitchFamily="2" charset="0"/>
                <a:sym typeface="Montserrat Classic Bold"/>
              </a:rPr>
              <a:t>Covid Impact on Parcel Volumes by Customer Group</a:t>
            </a:r>
          </a:p>
        </p:txBody>
      </p:sp>
      <p:sp>
        <p:nvSpPr>
          <p:cNvPr id="7" name="TextBox 6">
            <a:extLst>
              <a:ext uri="{FF2B5EF4-FFF2-40B4-BE49-F238E27FC236}">
                <a16:creationId xmlns:a16="http://schemas.microsoft.com/office/drawing/2014/main" id="{752C913F-CCBF-609D-BF93-009FDE121756}"/>
              </a:ext>
            </a:extLst>
          </p:cNvPr>
          <p:cNvSpPr txBox="1"/>
          <p:nvPr/>
        </p:nvSpPr>
        <p:spPr>
          <a:xfrm>
            <a:off x="13182600" y="2642066"/>
            <a:ext cx="4191000" cy="5847755"/>
          </a:xfrm>
          <a:prstGeom prst="rect">
            <a:avLst/>
          </a:prstGeom>
          <a:noFill/>
        </p:spPr>
        <p:txBody>
          <a:bodyPr wrap="square" rtlCol="0">
            <a:spAutoFit/>
          </a:bodyPr>
          <a:lstStyle/>
          <a:p>
            <a:pPr marL="342900" indent="-342900">
              <a:buFont typeface="Wingdings" panose="05000000000000000000" pitchFamily="2" charset="2"/>
              <a:buChar char="§"/>
            </a:pPr>
            <a:r>
              <a:rPr lang="en-US" sz="2200" dirty="0">
                <a:solidFill>
                  <a:schemeClr val="bg1"/>
                </a:solidFill>
              </a:rPr>
              <a:t>Enterprise: Volume increased from 49.12M to 43.54M during COVID, indicating strong business growth.</a:t>
            </a:r>
          </a:p>
          <a:p>
            <a:pPr marL="342900" indent="-342900">
              <a:buFont typeface="Wingdings" panose="05000000000000000000" pitchFamily="2" charset="2"/>
              <a:buChar char="§"/>
            </a:pPr>
            <a:endParaRPr lang="en-US" sz="2200" dirty="0">
              <a:solidFill>
                <a:schemeClr val="bg1"/>
              </a:solidFill>
            </a:endParaRPr>
          </a:p>
          <a:p>
            <a:pPr marL="342900" indent="-342900">
              <a:buFont typeface="Wingdings" panose="05000000000000000000" pitchFamily="2" charset="2"/>
              <a:buChar char="§"/>
            </a:pPr>
            <a:r>
              <a:rPr lang="en-US" sz="2200" dirty="0">
                <a:solidFill>
                  <a:schemeClr val="bg1"/>
                </a:solidFill>
              </a:rPr>
              <a:t>Large: Volume remained stable at around 5.67M, showing resilience.</a:t>
            </a:r>
          </a:p>
          <a:p>
            <a:pPr marL="342900" indent="-342900">
              <a:buFont typeface="Wingdings" panose="05000000000000000000" pitchFamily="2" charset="2"/>
              <a:buChar char="§"/>
            </a:pPr>
            <a:endParaRPr lang="en-US" sz="2200" dirty="0">
              <a:solidFill>
                <a:schemeClr val="bg1"/>
              </a:solidFill>
            </a:endParaRPr>
          </a:p>
          <a:p>
            <a:pPr marL="342900" indent="-342900">
              <a:buFont typeface="Wingdings" panose="05000000000000000000" pitchFamily="2" charset="2"/>
              <a:buChar char="§"/>
            </a:pPr>
            <a:r>
              <a:rPr lang="en-US" sz="2200" dirty="0">
                <a:solidFill>
                  <a:schemeClr val="bg1"/>
                </a:solidFill>
              </a:rPr>
              <a:t>Medium: Volume increased from 6.28M to 7.93M, reflecting moderate adaptability.</a:t>
            </a:r>
          </a:p>
          <a:p>
            <a:pPr marL="342900" indent="-342900">
              <a:buFont typeface="Wingdings" panose="05000000000000000000" pitchFamily="2" charset="2"/>
              <a:buChar char="§"/>
            </a:pPr>
            <a:endParaRPr lang="en-US" sz="2200" dirty="0">
              <a:solidFill>
                <a:schemeClr val="bg1"/>
              </a:solidFill>
            </a:endParaRPr>
          </a:p>
          <a:p>
            <a:pPr marL="342900" indent="-342900">
              <a:buFont typeface="Wingdings" panose="05000000000000000000" pitchFamily="2" charset="2"/>
              <a:buChar char="§"/>
            </a:pPr>
            <a:r>
              <a:rPr lang="en-US" sz="2200" dirty="0">
                <a:solidFill>
                  <a:schemeClr val="bg1"/>
                </a:solidFill>
              </a:rPr>
              <a:t>Small: Volume decreased slightly from 1.92M to 2.94M, facing some challenges but remaining stable.</a:t>
            </a:r>
            <a:endParaRPr lang="en-CA" sz="2200" dirty="0">
              <a:solidFill>
                <a:schemeClr val="bg1"/>
              </a:solidFill>
            </a:endParaRPr>
          </a:p>
        </p:txBody>
      </p:sp>
      <p:pic>
        <p:nvPicPr>
          <p:cNvPr id="9" name="Picture 8" descr="A graph with blue lines and white text&#10;&#10;Description automatically generated">
            <a:extLst>
              <a:ext uri="{FF2B5EF4-FFF2-40B4-BE49-F238E27FC236}">
                <a16:creationId xmlns:a16="http://schemas.microsoft.com/office/drawing/2014/main" id="{3E2DD37F-DFCE-5575-0C28-0D89B21C85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2634446"/>
            <a:ext cx="12192000" cy="5294198"/>
          </a:xfrm>
          <a:prstGeom prst="rect">
            <a:avLst/>
          </a:prstGeom>
        </p:spPr>
      </p:pic>
      <p:sp>
        <p:nvSpPr>
          <p:cNvPr id="10" name="Slide Number Placeholder 9">
            <a:extLst>
              <a:ext uri="{FF2B5EF4-FFF2-40B4-BE49-F238E27FC236}">
                <a16:creationId xmlns:a16="http://schemas.microsoft.com/office/drawing/2014/main" id="{DC673F45-2133-F1E5-666A-FAD5D6435FE9}"/>
              </a:ext>
            </a:extLst>
          </p:cNvPr>
          <p:cNvSpPr>
            <a:spLocks noGrp="1"/>
          </p:cNvSpPr>
          <p:nvPr>
            <p:ph type="sldNum" sz="quarter" idx="12"/>
          </p:nvPr>
        </p:nvSpPr>
        <p:spPr>
          <a:xfrm>
            <a:off x="7239000" y="9380537"/>
            <a:ext cx="2133600" cy="365125"/>
          </a:xfrm>
        </p:spPr>
        <p:txBody>
          <a:bodyPr/>
          <a:lstStyle/>
          <a:p>
            <a:fld id="{B6F15528-21DE-4FAA-801E-634DDDAF4B2B}" type="slidenum">
              <a:rPr lang="en-US" sz="2000" b="1" smtClean="0">
                <a:solidFill>
                  <a:schemeClr val="bg1"/>
                </a:solidFill>
              </a:rPr>
              <a:pPr/>
              <a:t>11</a:t>
            </a:fld>
            <a:endParaRPr lang="en-US" sz="2000" b="1" dirty="0">
              <a:solidFill>
                <a:schemeClr val="bg1"/>
              </a:solidFill>
            </a:endParaRPr>
          </a:p>
        </p:txBody>
      </p:sp>
    </p:spTree>
    <p:extLst>
      <p:ext uri="{BB962C8B-B14F-4D97-AF65-F5344CB8AC3E}">
        <p14:creationId xmlns:p14="http://schemas.microsoft.com/office/powerpoint/2010/main" val="2167211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5"/>
          <p:cNvSpPr txBox="1"/>
          <p:nvPr/>
        </p:nvSpPr>
        <p:spPr>
          <a:xfrm>
            <a:off x="1828800" y="723900"/>
            <a:ext cx="7415628" cy="1156855"/>
          </a:xfrm>
          <a:prstGeom prst="rect">
            <a:avLst/>
          </a:prstGeom>
        </p:spPr>
        <p:txBody>
          <a:bodyPr lIns="0" tIns="0" rIns="0" bIns="0" rtlCol="0" anchor="t">
            <a:spAutoFit/>
          </a:bodyPr>
          <a:lstStyle/>
          <a:p>
            <a:pPr marL="0" lvl="0" indent="0" algn="l">
              <a:lnSpc>
                <a:spcPts val="9873"/>
              </a:lnSpc>
              <a:spcBef>
                <a:spcPct val="0"/>
              </a:spcBef>
            </a:pPr>
            <a:r>
              <a:rPr lang="en-US" sz="8227" b="1" u="none" strike="noStrike" spc="296" dirty="0">
                <a:solidFill>
                  <a:schemeClr val="bg1"/>
                </a:solidFill>
                <a:latin typeface="Montserrat Classic Bold"/>
                <a:ea typeface="Montserrat Classic Bold"/>
                <a:cs typeface="Montserrat Classic Bold"/>
                <a:sym typeface="Montserrat Classic Bold"/>
              </a:rPr>
              <a:t>Reference</a:t>
            </a:r>
          </a:p>
        </p:txBody>
      </p:sp>
      <p:sp>
        <p:nvSpPr>
          <p:cNvPr id="16" name="Freeform 16"/>
          <p:cNvSpPr/>
          <p:nvPr/>
        </p:nvSpPr>
        <p:spPr>
          <a:xfrm rot="5400000">
            <a:off x="10153408" y="-285508"/>
            <a:ext cx="14626818" cy="7044436"/>
          </a:xfrm>
          <a:custGeom>
            <a:avLst/>
            <a:gdLst/>
            <a:ahLst/>
            <a:cxnLst/>
            <a:rect l="l" t="t" r="r" b="b"/>
            <a:pathLst>
              <a:path w="14626818" h="8111235">
                <a:moveTo>
                  <a:pt x="0" y="0"/>
                </a:moveTo>
                <a:lnTo>
                  <a:pt x="14626818" y="0"/>
                </a:lnTo>
                <a:lnTo>
                  <a:pt x="14626818" y="8111236"/>
                </a:lnTo>
                <a:lnTo>
                  <a:pt x="0" y="811123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CA"/>
          </a:p>
        </p:txBody>
      </p:sp>
      <p:sp>
        <p:nvSpPr>
          <p:cNvPr id="3" name="Rectangle 2">
            <a:extLst>
              <a:ext uri="{FF2B5EF4-FFF2-40B4-BE49-F238E27FC236}">
                <a16:creationId xmlns:a16="http://schemas.microsoft.com/office/drawing/2014/main" id="{BA9E96FE-A56C-605C-0C08-BBF0D0434EF4}"/>
              </a:ext>
            </a:extLst>
          </p:cNvPr>
          <p:cNvSpPr/>
          <p:nvPr/>
        </p:nvSpPr>
        <p:spPr>
          <a:xfrm>
            <a:off x="609600" y="457200"/>
            <a:ext cx="13182600" cy="9410700"/>
          </a:xfrm>
          <a:prstGeom prst="rect">
            <a:avLst/>
          </a:prstGeom>
          <a:solidFill>
            <a:srgbClr val="0A2D7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TextBox 15">
            <a:extLst>
              <a:ext uri="{FF2B5EF4-FFF2-40B4-BE49-F238E27FC236}">
                <a16:creationId xmlns:a16="http://schemas.microsoft.com/office/drawing/2014/main" id="{159D5CBF-CEBB-74B2-938D-B1737589099E}"/>
              </a:ext>
            </a:extLst>
          </p:cNvPr>
          <p:cNvSpPr txBox="1"/>
          <p:nvPr/>
        </p:nvSpPr>
        <p:spPr>
          <a:xfrm>
            <a:off x="990600" y="518160"/>
            <a:ext cx="7415628" cy="1167627"/>
          </a:xfrm>
          <a:prstGeom prst="rect">
            <a:avLst/>
          </a:prstGeom>
        </p:spPr>
        <p:txBody>
          <a:bodyPr lIns="0" tIns="0" rIns="0" bIns="0" rtlCol="0" anchor="t">
            <a:spAutoFit/>
          </a:bodyPr>
          <a:lstStyle/>
          <a:p>
            <a:pPr marL="0" lvl="0" indent="0" algn="l">
              <a:lnSpc>
                <a:spcPts val="9873"/>
              </a:lnSpc>
              <a:spcBef>
                <a:spcPct val="0"/>
              </a:spcBef>
            </a:pPr>
            <a:r>
              <a:rPr lang="en-US" sz="6000" b="1" u="none" strike="noStrike" spc="296" dirty="0">
                <a:solidFill>
                  <a:schemeClr val="bg1"/>
                </a:solidFill>
                <a:latin typeface="Poppins" panose="00000500000000000000" pitchFamily="2" charset="0"/>
                <a:ea typeface="Montserrat Classic Bold"/>
                <a:cs typeface="Poppins" panose="00000500000000000000" pitchFamily="2" charset="0"/>
                <a:sym typeface="Montserrat Classic Bold"/>
              </a:rPr>
              <a:t>Reference</a:t>
            </a:r>
          </a:p>
        </p:txBody>
      </p:sp>
      <p:sp>
        <p:nvSpPr>
          <p:cNvPr id="5" name="TextBox 4">
            <a:extLst>
              <a:ext uri="{FF2B5EF4-FFF2-40B4-BE49-F238E27FC236}">
                <a16:creationId xmlns:a16="http://schemas.microsoft.com/office/drawing/2014/main" id="{D7844E14-A5CB-53EC-CBCC-CB5A69DA4747}"/>
              </a:ext>
            </a:extLst>
          </p:cNvPr>
          <p:cNvSpPr txBox="1"/>
          <p:nvPr/>
        </p:nvSpPr>
        <p:spPr>
          <a:xfrm>
            <a:off x="1295400" y="2171700"/>
            <a:ext cx="10896600" cy="1200329"/>
          </a:xfrm>
          <a:prstGeom prst="rect">
            <a:avLst/>
          </a:prstGeom>
          <a:noFill/>
        </p:spPr>
        <p:txBody>
          <a:bodyPr wrap="square" rtlCol="0">
            <a:spAutoFit/>
          </a:bodyPr>
          <a:lstStyle/>
          <a:p>
            <a:pPr marL="457200" indent="-457200">
              <a:buAutoNum type="arabicPeriod"/>
            </a:pPr>
            <a:r>
              <a:rPr lang="en-CA" sz="2400" dirty="0">
                <a:solidFill>
                  <a:schemeClr val="bg1"/>
                </a:solidFill>
                <a:hlinkClick r:id="rId4">
                  <a:extLst>
                    <a:ext uri="{A12FA001-AC4F-418D-AE19-62706E023703}">
                      <ahyp:hlinkClr xmlns:ahyp="http://schemas.microsoft.com/office/drawing/2018/hyperlinkcolor" val="tx"/>
                    </a:ext>
                  </a:extLst>
                </a:hlinkClick>
              </a:rPr>
              <a:t>https://www.flaticon.com/free-icon/logistics_4394250</a:t>
            </a:r>
            <a:endParaRPr lang="en-CA" sz="2400" dirty="0">
              <a:solidFill>
                <a:schemeClr val="bg1"/>
              </a:solidFill>
            </a:endParaRPr>
          </a:p>
          <a:p>
            <a:pPr marL="457200" indent="-457200">
              <a:buAutoNum type="arabicPeriod"/>
            </a:pPr>
            <a:r>
              <a:rPr lang="en-CA" sz="2400" dirty="0">
                <a:solidFill>
                  <a:schemeClr val="bg1"/>
                </a:solidFill>
                <a:hlinkClick r:id="rId5">
                  <a:extLst>
                    <a:ext uri="{A12FA001-AC4F-418D-AE19-62706E023703}">
                      <ahyp:hlinkClr xmlns:ahyp="http://schemas.microsoft.com/office/drawing/2018/hyperlinkcolor" val="tx"/>
                    </a:ext>
                  </a:extLst>
                </a:hlinkClick>
              </a:rPr>
              <a:t>https://www.oreilly.com/library/view/storytelling-with-data/9781119002253/</a:t>
            </a:r>
            <a:endParaRPr lang="en-CA" sz="2400" dirty="0">
              <a:solidFill>
                <a:schemeClr val="bg1"/>
              </a:solidFill>
            </a:endParaRPr>
          </a:p>
          <a:p>
            <a:pPr marL="457200" indent="-457200">
              <a:buAutoNum type="arabicPeriod"/>
            </a:pPr>
            <a:endParaRPr lang="en-CA" sz="2400" dirty="0">
              <a:solidFill>
                <a:schemeClr val="bg1"/>
              </a:solidFill>
            </a:endParaRPr>
          </a:p>
        </p:txBody>
      </p:sp>
      <p:sp>
        <p:nvSpPr>
          <p:cNvPr id="6" name="Slide Number Placeholder 5">
            <a:extLst>
              <a:ext uri="{FF2B5EF4-FFF2-40B4-BE49-F238E27FC236}">
                <a16:creationId xmlns:a16="http://schemas.microsoft.com/office/drawing/2014/main" id="{1DCFCECE-B1EA-3520-D67F-BD1B5C764270}"/>
              </a:ext>
            </a:extLst>
          </p:cNvPr>
          <p:cNvSpPr>
            <a:spLocks noGrp="1"/>
          </p:cNvSpPr>
          <p:nvPr>
            <p:ph type="sldNum" sz="quarter" idx="12"/>
          </p:nvPr>
        </p:nvSpPr>
        <p:spPr>
          <a:xfrm>
            <a:off x="6477000" y="9205595"/>
            <a:ext cx="2133600" cy="365125"/>
          </a:xfrm>
        </p:spPr>
        <p:txBody>
          <a:bodyPr/>
          <a:lstStyle/>
          <a:p>
            <a:fld id="{B6F15528-21DE-4FAA-801E-634DDDAF4B2B}" type="slidenum">
              <a:rPr lang="en-US" sz="2000" b="1" smtClean="0">
                <a:solidFill>
                  <a:schemeClr val="bg1"/>
                </a:solidFill>
              </a:rPr>
              <a:pPr/>
              <a:t>12</a:t>
            </a:fld>
            <a:endParaRPr lang="en-US" sz="2000" b="1" dirty="0">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5F9F4-B247-E139-8E83-142871766088}"/>
            </a:ext>
          </a:extLst>
        </p:cNvPr>
        <p:cNvGrpSpPr/>
        <p:nvPr/>
      </p:nvGrpSpPr>
      <p:grpSpPr>
        <a:xfrm>
          <a:off x="0" y="0"/>
          <a:ext cx="0" cy="0"/>
          <a:chOff x="0" y="0"/>
          <a:chExt cx="0" cy="0"/>
        </a:xfrm>
      </p:grpSpPr>
      <p:sp>
        <p:nvSpPr>
          <p:cNvPr id="15" name="TextBox 15">
            <a:extLst>
              <a:ext uri="{FF2B5EF4-FFF2-40B4-BE49-F238E27FC236}">
                <a16:creationId xmlns:a16="http://schemas.microsoft.com/office/drawing/2014/main" id="{6F130A6E-A7CB-B385-79BA-AABC296FE770}"/>
              </a:ext>
            </a:extLst>
          </p:cNvPr>
          <p:cNvSpPr txBox="1"/>
          <p:nvPr/>
        </p:nvSpPr>
        <p:spPr>
          <a:xfrm>
            <a:off x="4724400" y="3771900"/>
            <a:ext cx="7415628" cy="1156855"/>
          </a:xfrm>
          <a:prstGeom prst="rect">
            <a:avLst/>
          </a:prstGeom>
        </p:spPr>
        <p:txBody>
          <a:bodyPr lIns="0" tIns="0" rIns="0" bIns="0" rtlCol="0" anchor="t">
            <a:spAutoFit/>
          </a:bodyPr>
          <a:lstStyle/>
          <a:p>
            <a:pPr marL="0" lvl="0" indent="0" algn="l">
              <a:lnSpc>
                <a:spcPts val="9873"/>
              </a:lnSpc>
              <a:spcBef>
                <a:spcPct val="0"/>
              </a:spcBef>
            </a:pPr>
            <a:r>
              <a:rPr lang="en-US" sz="8227" b="1" u="none" strike="noStrike" spc="296" dirty="0">
                <a:solidFill>
                  <a:schemeClr val="tx2">
                    <a:lumMod val="75000"/>
                  </a:schemeClr>
                </a:solidFill>
                <a:latin typeface="Montserrat Classic Bold"/>
                <a:ea typeface="Montserrat Classic Bold"/>
                <a:cs typeface="Montserrat Classic Bold"/>
                <a:sym typeface="Montserrat Classic Bold"/>
              </a:rPr>
              <a:t>Thank You!</a:t>
            </a:r>
          </a:p>
        </p:txBody>
      </p:sp>
      <p:sp>
        <p:nvSpPr>
          <p:cNvPr id="16" name="Freeform 16">
            <a:extLst>
              <a:ext uri="{FF2B5EF4-FFF2-40B4-BE49-F238E27FC236}">
                <a16:creationId xmlns:a16="http://schemas.microsoft.com/office/drawing/2014/main" id="{F67B80D1-E1B7-BF39-0C56-2685E57D414B}"/>
              </a:ext>
            </a:extLst>
          </p:cNvPr>
          <p:cNvSpPr/>
          <p:nvPr/>
        </p:nvSpPr>
        <p:spPr>
          <a:xfrm rot="5400000">
            <a:off x="8142053" y="-899719"/>
            <a:ext cx="14626818" cy="8111235"/>
          </a:xfrm>
          <a:custGeom>
            <a:avLst/>
            <a:gdLst/>
            <a:ahLst/>
            <a:cxnLst/>
            <a:rect l="l" t="t" r="r" b="b"/>
            <a:pathLst>
              <a:path w="14626818" h="8111235">
                <a:moveTo>
                  <a:pt x="0" y="0"/>
                </a:moveTo>
                <a:lnTo>
                  <a:pt x="14626818" y="0"/>
                </a:lnTo>
                <a:lnTo>
                  <a:pt x="14626818" y="8111236"/>
                </a:lnTo>
                <a:lnTo>
                  <a:pt x="0" y="811123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CA"/>
          </a:p>
        </p:txBody>
      </p:sp>
      <p:sp>
        <p:nvSpPr>
          <p:cNvPr id="2" name="Slide Number Placeholder 1">
            <a:extLst>
              <a:ext uri="{FF2B5EF4-FFF2-40B4-BE49-F238E27FC236}">
                <a16:creationId xmlns:a16="http://schemas.microsoft.com/office/drawing/2014/main" id="{29BE086A-5FD1-915B-669A-DD150CAB64F1}"/>
              </a:ext>
            </a:extLst>
          </p:cNvPr>
          <p:cNvSpPr>
            <a:spLocks noGrp="1"/>
          </p:cNvSpPr>
          <p:nvPr>
            <p:ph type="sldNum" sz="quarter" idx="12"/>
          </p:nvPr>
        </p:nvSpPr>
        <p:spPr>
          <a:xfrm>
            <a:off x="7365414" y="9715500"/>
            <a:ext cx="2133600" cy="365125"/>
          </a:xfrm>
        </p:spPr>
        <p:txBody>
          <a:bodyPr/>
          <a:lstStyle/>
          <a:p>
            <a:fld id="{B6F15528-21DE-4FAA-801E-634DDDAF4B2B}" type="slidenum">
              <a:rPr lang="en-US" sz="2000" b="1" smtClean="0">
                <a:solidFill>
                  <a:srgbClr val="000B5D"/>
                </a:solidFill>
              </a:rPr>
              <a:pPr/>
              <a:t>13</a:t>
            </a:fld>
            <a:endParaRPr lang="en-US" sz="2000" b="1" dirty="0">
              <a:solidFill>
                <a:srgbClr val="000B5D"/>
              </a:solidFill>
            </a:endParaRPr>
          </a:p>
        </p:txBody>
      </p:sp>
    </p:spTree>
    <p:extLst>
      <p:ext uri="{BB962C8B-B14F-4D97-AF65-F5344CB8AC3E}">
        <p14:creationId xmlns:p14="http://schemas.microsoft.com/office/powerpoint/2010/main" val="38792555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343F34D-A9FB-45EC-89C4-E3C048D98267}">
  <we:reference id="e6890d58-51ce-4572-9272-a9ab2dd6f31e" version="1.1.0.0" store="EXCatalog" storeType="EXCatalog"/>
  <we:alternateReferences>
    <we:reference id="WA200002334" version="1.1.0.0" store="en-CA"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2023</TotalTime>
  <Words>891</Words>
  <Application>Microsoft Office PowerPoint</Application>
  <PresentationFormat>Custom</PresentationFormat>
  <Paragraphs>124</Paragraphs>
  <Slides>13</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Montserrat Classic Bold</vt:lpstr>
      <vt:lpstr>Calibri</vt:lpstr>
      <vt:lpstr>Arial</vt:lpstr>
      <vt:lpstr>Aptos</vt:lpstr>
      <vt:lpstr>Wingdings</vt:lpstr>
      <vt:lpstr>Montserrat Classic</vt:lpstr>
      <vt:lpstr>ADLaM Display</vt:lpstr>
      <vt:lpstr>Montserrat</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Blue Professional Modern Technology Pitch Deck Presentation</dc:title>
  <dc:creator>Farjana Yeasmin Huq</dc:creator>
  <cp:lastModifiedBy>Yeasmin Huq, Farjana</cp:lastModifiedBy>
  <cp:revision>67</cp:revision>
  <dcterms:created xsi:type="dcterms:W3CDTF">2006-08-16T00:00:00Z</dcterms:created>
  <dcterms:modified xsi:type="dcterms:W3CDTF">2024-12-16T05:03:40Z</dcterms:modified>
  <dc:identifier>DAGZSqeh7VM</dc:identifier>
</cp:coreProperties>
</file>